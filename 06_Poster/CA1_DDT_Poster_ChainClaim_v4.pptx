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7" r:id="rId2"/>
    <p:sldMasterId id="2147483653" r:id="rId3"/>
  </p:sldMasterIdLst>
  <p:notesMasterIdLst>
    <p:notesMasterId r:id="rId5"/>
  </p:notesMasterIdLst>
  <p:handoutMasterIdLst>
    <p:handoutMasterId r:id="rId6"/>
  </p:handoutMasterIdLst>
  <p:sldIdLst>
    <p:sldId id="258" r:id="rId4"/>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8">
          <p15:clr>
            <a:srgbClr val="A4A3A4"/>
          </p15:clr>
        </p15:guide>
        <p15:guide id="2" orient="horz" pos="288">
          <p15:clr>
            <a:srgbClr val="A4A3A4"/>
          </p15:clr>
        </p15:guide>
        <p15:guide id="3" orient="horz" pos="20160">
          <p15:clr>
            <a:srgbClr val="A4A3A4"/>
          </p15:clr>
        </p15:guide>
        <p15:guide id="4" orient="horz">
          <p15:clr>
            <a:srgbClr val="A4A3A4"/>
          </p15:clr>
        </p15:guide>
        <p15:guide id="5" pos="581">
          <p15:clr>
            <a:srgbClr val="A4A3A4"/>
          </p15:clr>
        </p15:guide>
        <p15:guide id="6" pos="27069">
          <p15:clr>
            <a:srgbClr val="A4A3A4"/>
          </p15:clr>
        </p15:guide>
        <p15:guide id="7" orient="horz" pos="3298">
          <p15:clr>
            <a:srgbClr val="A4A3A4"/>
          </p15:clr>
        </p15:guide>
        <p15:guide id="8" orient="horz" pos="20735">
          <p15:clr>
            <a:srgbClr val="A4A3A4"/>
          </p15:clr>
        </p15:guide>
        <p15:guide id="9" pos="320">
          <p15:clr>
            <a:srgbClr val="A4A3A4"/>
          </p15:clr>
        </p15:guide>
        <p15:guide id="10" pos="276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434" autoAdjust="0"/>
  </p:normalViewPr>
  <p:slideViewPr>
    <p:cSldViewPr snapToGrid="0" snapToObjects="1" showGuides="1">
      <p:cViewPr varScale="1">
        <p:scale>
          <a:sx n="12" d="100"/>
          <a:sy n="12" d="100"/>
        </p:scale>
        <p:origin x="1668" y="124"/>
      </p:cViewPr>
      <p:guideLst>
        <p:guide orient="horz" pos="3318"/>
        <p:guide orient="horz" pos="288"/>
        <p:guide orient="horz" pos="20160"/>
        <p:guide orient="horz"/>
        <p:guide pos="581"/>
        <p:guide pos="27069"/>
        <p:guide orient="horz" pos="3298"/>
        <p:guide orient="horz" pos="20735"/>
        <p:guide pos="320"/>
        <p:guide pos="2764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commentAuthors" Target="commentAuthors.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3/31/2021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3/31/2021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ChainClaim poster – DDT CA1. Evidence screenshots: see 09_Evidence/EVIDENCE_LOG.md in the GitHub repository.</a:t>
            </a:r>
          </a:p>
        </p:txBody>
      </p:sp>
      <p:sp>
        <p:nvSpPr>
          <p:cNvPr id="4" name="Slide Number Placeholder 3"/>
          <p:cNvSpPr>
            <a:spLocks noGrp="1"/>
          </p:cNvSpPr>
          <p:nvPr>
            <p:ph type="sldNum" sz="quarter" idx="5"/>
          </p:nvPr>
        </p:nvSpPr>
        <p:spPr/>
        <p:txBody>
          <a:bodyPr/>
          <a:lstStyle/>
          <a:p>
            <a:r>
              <a:t>ChainClaim poster – DDT CA1. Evidence screenshots: see 09_Evidence/EVIDENCE_LOG.md in the GitHub repository.</a:t>
            </a:r>
          </a:p>
        </p:txBody>
      </p:sp>
    </p:spTree>
    <p:extLst>
      <p:ext uri="{BB962C8B-B14F-4D97-AF65-F5344CB8AC3E}">
        <p14:creationId xmlns:p14="http://schemas.microsoft.com/office/powerpoint/2010/main" val="1762644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91425" y="6378481"/>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509578"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509576"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11460161"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460162" y="5548749"/>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385343" y="6378481"/>
            <a:ext cx="10048874"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377404" y="5548749"/>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33358541" y="5548749"/>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33358541" y="6378481"/>
            <a:ext cx="10047018"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3358541"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33358541" y="15011402"/>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3358541"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3358541" y="26433446"/>
            <a:ext cx="10052050"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91425" y="14951552"/>
            <a:ext cx="10056813" cy="846363"/>
          </a:xfrm>
          <a:prstGeom prst="rect">
            <a:avLst/>
          </a:prstGeom>
        </p:spPr>
        <p:txBody>
          <a:bodyPr wrap="square" lIns="228589" tIns="228589" rIns="228589" bIns="228589">
            <a:spAutoFit/>
          </a:bodyPr>
          <a:lstStyle>
            <a:lvl1pPr marL="0" indent="0">
              <a:buNone/>
              <a:defRPr sz="25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6" y="6295353"/>
            <a:ext cx="13591277"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922338" y="5431995"/>
            <a:ext cx="13573126"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22338" y="18240478"/>
            <a:ext cx="1359286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942080" y="17409229"/>
            <a:ext cx="1357312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5154276" y="2159508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5154276" y="20739663"/>
            <a:ext cx="13571534"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5162215" y="6295353"/>
            <a:ext cx="13571534"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5154277" y="5431995"/>
            <a:ext cx="13579475"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9395741" y="5431995"/>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9395741" y="6295353"/>
            <a:ext cx="13576029"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9395741" y="17377122"/>
            <a:ext cx="13576029" cy="754045"/>
          </a:xfrm>
          <a:prstGeom prst="rect">
            <a:avLst/>
          </a:prstGeom>
          <a:noFill/>
        </p:spPr>
        <p:txBody>
          <a:bodyPr wrap="square" lIns="91436" tIns="91436" rIns="91436" bIns="91436" anchor="ctr" anchorCtr="0">
            <a:spAutoFit/>
          </a:bodyPr>
          <a:lstStyle>
            <a:lvl1pPr marL="0" indent="0" algn="ctr">
              <a:buNone/>
              <a:tabLst/>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9390710" y="18157350"/>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9395741" y="25845657"/>
            <a:ext cx="13576029"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9395742" y="26625887"/>
            <a:ext cx="13581061" cy="861752"/>
          </a:xfrm>
          <a:prstGeom prst="rect">
            <a:avLst/>
          </a:prstGeom>
        </p:spPr>
        <p:txBody>
          <a:bodyPr wrap="square" lIns="228589" tIns="228589" rIns="228589" bIns="228589">
            <a:spAutoFit/>
          </a:bodyPr>
          <a:lstStyle>
            <a:lvl1pPr marL="0" indent="0">
              <a:buNone/>
              <a:defRPr sz="2600">
                <a:solidFill>
                  <a:schemeClr val="accent5">
                    <a:lumMod val="50000"/>
                  </a:schemeClr>
                </a:solidFill>
                <a:latin typeface="Times New Roman" pitchFamily="18" charset="0"/>
                <a:cs typeface="Times New Roman" pitchFamily="18"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904188" y="6212225"/>
            <a:ext cx="10056813"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922341" y="534886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902598" y="15043762"/>
            <a:ext cx="1005840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922339" y="14212513"/>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87163" y="6204287"/>
            <a:ext cx="2072004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11587164" y="5348867"/>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11587164" y="21896538"/>
            <a:ext cx="20720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11587162" y="21074746"/>
            <a:ext cx="20720050"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32905536" y="5348867"/>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32905536" y="6212225"/>
            <a:ext cx="10047018"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32905536" y="14272738"/>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32905536" y="15011402"/>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32905536" y="25669876"/>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32905536" y="26436774"/>
            <a:ext cx="10052050" cy="846363"/>
          </a:xfrm>
          <a:prstGeom prst="rect">
            <a:avLst/>
          </a:prstGeom>
        </p:spPr>
        <p:txBody>
          <a:bodyPr wrap="square" lIns="228589" tIns="228589" rIns="228589" bIns="228589">
            <a:spAutoFit/>
          </a:bodyPr>
          <a:lstStyle>
            <a:lvl1pPr marL="0" indent="0">
              <a:buNone/>
              <a:defRPr sz="2500">
                <a:latin typeface="Trebuchet MS"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Enter your text here</a:t>
            </a:r>
          </a:p>
        </p:txBody>
      </p:sp>
      <p:sp>
        <p:nvSpPr>
          <p:cNvPr id="64" name="Text Placeholder 76"/>
          <p:cNvSpPr>
            <a:spLocks noGrp="1"/>
          </p:cNvSpPr>
          <p:nvPr>
            <p:ph type="body" sz="quarter" idx="150" hasCustomPrompt="1"/>
          </p:nvPr>
        </p:nvSpPr>
        <p:spPr>
          <a:xfrm>
            <a:off x="5932593" y="3383947"/>
            <a:ext cx="31998968" cy="1280160"/>
          </a:xfrm>
          <a:prstGeom prst="rect">
            <a:avLst/>
          </a:prstGeom>
        </p:spPr>
        <p:txBody>
          <a:bodyPr>
            <a:normAutofit/>
          </a:bodyPr>
          <a:lstStyle>
            <a:lvl1pPr marL="0" indent="0" algn="ctr">
              <a:buFontTx/>
              <a:buNone/>
              <a:defRPr sz="60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65" name="Text Placeholder 76"/>
          <p:cNvSpPr>
            <a:spLocks noGrp="1"/>
          </p:cNvSpPr>
          <p:nvPr>
            <p:ph type="body" sz="quarter" idx="151" hasCustomPrompt="1"/>
          </p:nvPr>
        </p:nvSpPr>
        <p:spPr>
          <a:xfrm>
            <a:off x="5932593" y="2103787"/>
            <a:ext cx="31998968" cy="1280160"/>
          </a:xfrm>
          <a:prstGeom prst="rect">
            <a:avLst/>
          </a:prstGeom>
        </p:spPr>
        <p:txBody>
          <a:bodyPr anchor="t" anchorCtr="1">
            <a:normAutofit/>
          </a:bodyPr>
          <a:lstStyle>
            <a:lvl1pPr marL="0" indent="0" algn="ctr">
              <a:buFontTx/>
              <a:buNone/>
              <a:defRPr sz="88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66" name="Text Placeholder 76"/>
          <p:cNvSpPr>
            <a:spLocks noGrp="1"/>
          </p:cNvSpPr>
          <p:nvPr>
            <p:ph type="body" sz="quarter" idx="153" hasCustomPrompt="1"/>
          </p:nvPr>
        </p:nvSpPr>
        <p:spPr>
          <a:xfrm>
            <a:off x="5932593" y="465813"/>
            <a:ext cx="31998968" cy="1637973"/>
          </a:xfrm>
          <a:prstGeom prst="rect">
            <a:avLst/>
          </a:prstGeom>
        </p:spPr>
        <p:txBody>
          <a:bodyPr anchor="t" anchorCtr="1">
            <a:normAutofit/>
          </a:bodyPr>
          <a:lstStyle>
            <a:lvl1pPr marL="0" indent="0" algn="ctr">
              <a:buFontTx/>
              <a:buNone/>
              <a:defRPr sz="11500">
                <a:solidFill>
                  <a:schemeClr val="bg1"/>
                </a:solidFill>
                <a:latin typeface="+mj-lt"/>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oleObject" Target="../embeddings/oleObject1.bin"/><Relationship Id="rId8" Type="http://schemas.openxmlformats.org/officeDocument/2006/relationships/image" Target="../media/image5.wmf"/><Relationship Id="rId9" Type="http://schemas.openxmlformats.org/officeDocument/2006/relationships/oleObject" Target="../embeddings/oleObject2.bin"/><Relationship Id="rId10" Type="http://schemas.openxmlformats.org/officeDocument/2006/relationships/image" Target="../media/image6.wmf"/><Relationship Id="rId11" Type="http://schemas.openxmlformats.org/officeDocument/2006/relationships/oleObject" Target="../embeddings/oleObject3.bin"/><Relationship Id="rId12" Type="http://schemas.openxmlformats.org/officeDocument/2006/relationships/image" Target="../media/image7.wmf"/><Relationship Id="rId13" Type="http://schemas.openxmlformats.org/officeDocument/2006/relationships/image" Target="../media/image8.png"/><Relationship Id="rId14" Type="http://schemas.openxmlformats.org/officeDocument/2006/relationships/oleObject" Target="../embeddings/oleObject4.bin"/><Relationship Id="rId15" Type="http://schemas.openxmlformats.org/officeDocument/2006/relationships/image" Target="../media/image9.wmf"/><Relationship Id="rId16" Type="http://schemas.openxmlformats.org/officeDocument/2006/relationships/hyperlink" Target="http://www.facebook.com/pages/PosterPresentationscom/217914411419?v=app_4949752878&amp;ref=ts" TargetMode="External"/><Relationship Id="rId17" Type="http://schemas.openxmlformats.org/officeDocument/2006/relationships/image" Target="../media/image10.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 Id="rId3" Type="http://schemas.openxmlformats.org/officeDocument/2006/relationships/oleObject" Target="../embeddings/oleObject5.bin"/><Relationship Id="rId4" Type="http://schemas.openxmlformats.org/officeDocument/2006/relationships/image" Target="../media/image7.wmf"/><Relationship Id="rId5" Type="http://schemas.openxmlformats.org/officeDocument/2006/relationships/image" Target="../media/image8.png"/><Relationship Id="rId6" Type="http://schemas.openxmlformats.org/officeDocument/2006/relationships/oleObject" Target="../embeddings/oleObject6.bin"/><Relationship Id="rId7" Type="http://schemas.openxmlformats.org/officeDocument/2006/relationships/image" Target="../media/image9.wmf"/><Relationship Id="rId8" Type="http://schemas.openxmlformats.org/officeDocument/2006/relationships/hyperlink" Target="http://www.facebook.com/pages/PosterPresentationscom/217914411419?v=app_4949752878&amp;ref=ts" TargetMode="External"/><Relationship Id="rId9" Type="http://schemas.openxmlformats.org/officeDocument/2006/relationships/image" Target="../media/image10.jpeg"/><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oleObject" Target="../embeddings/oleObject7.bin"/><Relationship Id="rId15" Type="http://schemas.openxmlformats.org/officeDocument/2006/relationships/image" Target="../media/image5.wmf"/><Relationship Id="rId16" Type="http://schemas.openxmlformats.org/officeDocument/2006/relationships/oleObject" Target="../embeddings/oleObject8.bin"/><Relationship Id="rId17" Type="http://schemas.openxmlformats.org/officeDocument/2006/relationships/image" Target="../media/image6.wmf"/></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 Id="rId3" Type="http://schemas.openxmlformats.org/officeDocument/2006/relationships/oleObject" Target="../embeddings/oleObject9.bin"/><Relationship Id="rId4" Type="http://schemas.openxmlformats.org/officeDocument/2006/relationships/image" Target="../media/image7.wmf"/><Relationship Id="rId5" Type="http://schemas.openxmlformats.org/officeDocument/2006/relationships/image" Target="../media/image8.png"/><Relationship Id="rId6" Type="http://schemas.openxmlformats.org/officeDocument/2006/relationships/oleObject" Target="../embeddings/oleObject10.bin"/><Relationship Id="rId7" Type="http://schemas.openxmlformats.org/officeDocument/2006/relationships/image" Target="../media/image9.wmf"/><Relationship Id="rId8" Type="http://schemas.openxmlformats.org/officeDocument/2006/relationships/hyperlink" Target="http://www.facebook.com/pages/PosterPresentationscom/217914411419?v=app_4949752878&amp;ref=ts" TargetMode="External"/><Relationship Id="rId9" Type="http://schemas.openxmlformats.org/officeDocument/2006/relationships/image" Target="../media/image10.jpeg"/><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 Id="rId13" Type="http://schemas.openxmlformats.org/officeDocument/2006/relationships/image" Target="../media/image4.png"/><Relationship Id="rId14" Type="http://schemas.openxmlformats.org/officeDocument/2006/relationships/oleObject" Target="../embeddings/oleObject11.bin"/><Relationship Id="rId15" Type="http://schemas.openxmlformats.org/officeDocument/2006/relationships/image" Target="../media/image5.wmf"/><Relationship Id="rId16" Type="http://schemas.openxmlformats.org/officeDocument/2006/relationships/oleObject" Target="../embeddings/oleObject12.bin"/><Relationship Id="rId17" Type="http://schemas.openxmlformats.org/officeDocument/2006/relationships/image" Target="../media/image6.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0600"/>
            <a:ext cx="43891200" cy="45719"/>
          </a:xfrm>
          <a:prstGeom prst="rect">
            <a:avLst/>
          </a:prstGeom>
          <a:solidFill>
            <a:schemeClr val="accent5">
              <a:lumMod val="50000"/>
            </a:schemeClr>
          </a:solidFill>
          <a:ln w="152400">
            <a:solidFill>
              <a:schemeClr val="accent5">
                <a:lumMod val="50000"/>
              </a:schemeClr>
            </a:solidFill>
            <a:miter lim="800000"/>
            <a:headEnd/>
            <a:tailEnd/>
          </a:ln>
          <a:effectLst/>
        </p:spPr>
        <p:txBody>
          <a:bodyPr wrap="none" lIns="91436" tIns="45717" rIns="91436" bIns="45717" anchor="ctr"/>
          <a:lstStyle/>
          <a:p>
            <a:pPr>
              <a:defRPr/>
            </a:pPr>
            <a:endParaRPr lang="en-US" dirty="0"/>
          </a:p>
        </p:txBody>
      </p:sp>
      <p:sp>
        <p:nvSpPr>
          <p:cNvPr id="2" name="Rounded Rectangle 1"/>
          <p:cNvSpPr/>
          <p:nvPr userDrawn="1"/>
        </p:nvSpPr>
        <p:spPr>
          <a:xfrm>
            <a:off x="477824" y="5475145"/>
            <a:ext cx="10058400" cy="26736675"/>
          </a:xfrm>
          <a:prstGeom prst="roundRect">
            <a:avLst>
              <a:gd name="adj" fmla="val 4178"/>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439521" y="5475145"/>
            <a:ext cx="10058400" cy="26736675"/>
          </a:xfrm>
          <a:prstGeom prst="roundRect">
            <a:avLst>
              <a:gd name="adj" fmla="val 4494"/>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ounded Rectangle 23"/>
          <p:cNvSpPr/>
          <p:nvPr userDrawn="1"/>
        </p:nvSpPr>
        <p:spPr>
          <a:xfrm>
            <a:off x="22401218" y="5475145"/>
            <a:ext cx="10058400" cy="26736675"/>
          </a:xfrm>
          <a:prstGeom prst="roundRect">
            <a:avLst>
              <a:gd name="adj" fmla="val 4810"/>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userDrawn="1"/>
        </p:nvSpPr>
        <p:spPr>
          <a:xfrm>
            <a:off x="33362914" y="5475145"/>
            <a:ext cx="10058400" cy="26736675"/>
          </a:xfrm>
          <a:prstGeom prst="roundRect">
            <a:avLst>
              <a:gd name="adj" fmla="val 3863"/>
            </a:avLst>
          </a:prstGeom>
          <a:gradFill>
            <a:gsLst>
              <a:gs pos="0">
                <a:srgbClr val="CDD2DE"/>
              </a:gs>
              <a:gs pos="0">
                <a:srgbClr val="CDD2DE"/>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userDrawn="1"/>
        </p:nvGrpSpPr>
        <p:grpSpPr>
          <a:xfrm>
            <a:off x="-11225189" y="-1"/>
            <a:ext cx="11018865" cy="32918401"/>
            <a:chOff x="-11225189" y="-1"/>
            <a:chExt cx="11018865" cy="32918401"/>
          </a:xfrm>
        </p:grpSpPr>
        <p:sp>
          <p:nvSpPr>
            <p:cNvPr id="31" name="Rectangle 30"/>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32" name="Straight Connector 31"/>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36" name="Picture 35"/>
            <p:cNvPicPr>
              <a:picLocks noChangeAspect="1"/>
            </p:cNvPicPr>
            <p:nvPr userDrawn="1"/>
          </p:nvPicPr>
          <p:blipFill>
            <a:blip r:embed="rId3"/>
            <a:stretch>
              <a:fillRect/>
            </a:stretch>
          </p:blipFill>
          <p:spPr>
            <a:xfrm>
              <a:off x="-10740740" y="10261718"/>
              <a:ext cx="1597666" cy="1201935"/>
            </a:xfrm>
            <a:prstGeom prst="rect">
              <a:avLst/>
            </a:prstGeom>
          </p:spPr>
        </p:pic>
        <p:pic>
          <p:nvPicPr>
            <p:cNvPr id="37" name="Picture 36"/>
            <p:cNvPicPr>
              <a:picLocks noChangeAspect="1"/>
            </p:cNvPicPr>
            <p:nvPr userDrawn="1"/>
          </p:nvPicPr>
          <p:blipFill>
            <a:blip r:embed="rId4"/>
            <a:stretch>
              <a:fillRect/>
            </a:stretch>
          </p:blipFill>
          <p:spPr>
            <a:xfrm>
              <a:off x="-10732765" y="15696927"/>
              <a:ext cx="9986808" cy="1053596"/>
            </a:xfrm>
            <a:prstGeom prst="rect">
              <a:avLst/>
            </a:prstGeom>
          </p:spPr>
        </p:pic>
        <p:grpSp>
          <p:nvGrpSpPr>
            <p:cNvPr id="38" name="Group 37"/>
            <p:cNvGrpSpPr/>
            <p:nvPr userDrawn="1"/>
          </p:nvGrpSpPr>
          <p:grpSpPr>
            <a:xfrm>
              <a:off x="-9744993" y="23540957"/>
              <a:ext cx="7531182" cy="2120439"/>
              <a:chOff x="-4470427" y="11016658"/>
              <a:chExt cx="3470785" cy="974220"/>
            </a:xfrm>
          </p:grpSpPr>
          <p:grpSp>
            <p:nvGrpSpPr>
              <p:cNvPr id="46" name="Group 45"/>
              <p:cNvGrpSpPr/>
              <p:nvPr userDrawn="1"/>
            </p:nvGrpSpPr>
            <p:grpSpPr>
              <a:xfrm>
                <a:off x="-2783495" y="11060886"/>
                <a:ext cx="624431" cy="893535"/>
                <a:chOff x="-3958697" y="11117435"/>
                <a:chExt cx="779338" cy="1280430"/>
              </a:xfrm>
            </p:grpSpPr>
            <p:pic>
              <p:nvPicPr>
                <p:cNvPr id="52" name="Picture 51"/>
                <p:cNvPicPr>
                  <a:picLocks noChangeAspect="1"/>
                </p:cNvPicPr>
                <p:nvPr userDrawn="1"/>
              </p:nvPicPr>
              <p:blipFill>
                <a:blip r:embed="rId5"/>
                <a:stretch>
                  <a:fillRect/>
                </a:stretch>
              </p:blipFill>
              <p:spPr>
                <a:xfrm>
                  <a:off x="-3948160" y="11117435"/>
                  <a:ext cx="768801" cy="1090857"/>
                </a:xfrm>
                <a:prstGeom prst="rect">
                  <a:avLst/>
                </a:prstGeom>
              </p:spPr>
            </p:pic>
            <p:sp>
              <p:nvSpPr>
                <p:cNvPr id="53" name="TextBox 52"/>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47" name="Group 46"/>
              <p:cNvGrpSpPr/>
              <p:nvPr userDrawn="1"/>
            </p:nvGrpSpPr>
            <p:grpSpPr>
              <a:xfrm>
                <a:off x="-2033159" y="11060889"/>
                <a:ext cx="1033517" cy="893529"/>
                <a:chOff x="-2921738" y="11200127"/>
                <a:chExt cx="1420279" cy="1227904"/>
              </a:xfrm>
            </p:grpSpPr>
            <p:pic>
              <p:nvPicPr>
                <p:cNvPr id="50" name="Picture 49"/>
                <p:cNvPicPr>
                  <a:picLocks noChangeAspect="1"/>
                </p:cNvPicPr>
                <p:nvPr userDrawn="1"/>
              </p:nvPicPr>
              <p:blipFill>
                <a:blip r:embed="rId5"/>
                <a:stretch>
                  <a:fillRect/>
                </a:stretch>
              </p:blipFill>
              <p:spPr>
                <a:xfrm>
                  <a:off x="-2921738" y="11200127"/>
                  <a:ext cx="1420279" cy="1029694"/>
                </a:xfrm>
                <a:prstGeom prst="rect">
                  <a:avLst/>
                </a:prstGeom>
              </p:spPr>
            </p:pic>
            <p:sp>
              <p:nvSpPr>
                <p:cNvPr id="51" name="TextBox 50"/>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48" name="Picture 47"/>
              <p:cNvPicPr>
                <a:picLocks noChangeAspect="1"/>
              </p:cNvPicPr>
              <p:nvPr userDrawn="1"/>
            </p:nvPicPr>
            <p:blipFill>
              <a:blip r:embed="rId6"/>
              <a:stretch>
                <a:fillRect/>
              </a:stretch>
            </p:blipFill>
            <p:spPr>
              <a:xfrm>
                <a:off x="-4470427" y="11016658"/>
                <a:ext cx="1098742" cy="847761"/>
              </a:xfrm>
              <a:prstGeom prst="rect">
                <a:avLst/>
              </a:prstGeom>
            </p:spPr>
          </p:pic>
          <p:sp>
            <p:nvSpPr>
              <p:cNvPr id="49" name="TextBox 48"/>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39" name="Group 38"/>
            <p:cNvGrpSpPr/>
            <p:nvPr userDrawn="1"/>
          </p:nvGrpSpPr>
          <p:grpSpPr>
            <a:xfrm>
              <a:off x="-10398793" y="27751410"/>
              <a:ext cx="9323012" cy="2453251"/>
              <a:chOff x="-4754996" y="12734136"/>
              <a:chExt cx="4296559" cy="1127128"/>
            </a:xfrm>
          </p:grpSpPr>
          <p:graphicFrame>
            <p:nvGraphicFramePr>
              <p:cNvPr id="41" name="Object 40"/>
              <p:cNvGraphicFramePr>
                <a:graphicFrameLocks noChangeAspect="1"/>
              </p:cNvGraphicFramePr>
              <p:nvPr userDrawn="1">
                <p:extLst>
                  <p:ext uri="{D42A27DB-BD31-4B8C-83A1-F6EECF244321}">
                    <p14:modId xmlns:p14="http://schemas.microsoft.com/office/powerpoint/2010/main" val="2923600614"/>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7" imgW="1828440" imgH="1117440" progId="Photoshop.Image.13">
                      <p:embed/>
                    </p:oleObj>
                  </mc:Choice>
                  <mc:Fallback>
                    <p:oleObj name="Image" r:id="rId7" imgW="1828440" imgH="1117440" progId="Photoshop.Image.13">
                      <p:embed/>
                      <p:pic>
                        <p:nvPicPr>
                          <p:cNvPr id="0" name=""/>
                          <p:cNvPicPr/>
                          <p:nvPr/>
                        </p:nvPicPr>
                        <p:blipFill>
                          <a:blip r:embed="rId8"/>
                          <a:stretch>
                            <a:fillRect/>
                          </a:stretch>
                        </p:blipFill>
                        <p:spPr>
                          <a:xfrm>
                            <a:off x="-4533347" y="12734142"/>
                            <a:ext cx="1828800" cy="1117600"/>
                          </a:xfrm>
                          <a:prstGeom prst="rect">
                            <a:avLst/>
                          </a:prstGeom>
                        </p:spPr>
                      </p:pic>
                    </p:oleObj>
                  </mc:Fallback>
                </mc:AlternateContent>
              </a:graphicData>
            </a:graphic>
          </p:graphicFrame>
          <p:graphicFrame>
            <p:nvGraphicFramePr>
              <p:cNvPr id="43" name="Object 42"/>
              <p:cNvGraphicFramePr>
                <a:graphicFrameLocks noChangeAspect="1"/>
              </p:cNvGraphicFramePr>
              <p:nvPr userDrawn="1">
                <p:extLst>
                  <p:ext uri="{D42A27DB-BD31-4B8C-83A1-F6EECF244321}">
                    <p14:modId xmlns:p14="http://schemas.microsoft.com/office/powerpoint/2010/main" val="3743875991"/>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9" imgW="1828440" imgH="1117440" progId="Photoshop.Image.13">
                      <p:embed/>
                    </p:oleObj>
                  </mc:Choice>
                  <mc:Fallback>
                    <p:oleObj name="Image" r:id="rId9" imgW="1828440" imgH="1117440" progId="Photoshop.Image.13">
                      <p:embed/>
                      <p:pic>
                        <p:nvPicPr>
                          <p:cNvPr id="0" name=""/>
                          <p:cNvPicPr/>
                          <p:nvPr/>
                        </p:nvPicPr>
                        <p:blipFill>
                          <a:blip r:embed="rId10"/>
                          <a:stretch>
                            <a:fillRect/>
                          </a:stretch>
                        </p:blipFill>
                        <p:spPr>
                          <a:xfrm>
                            <a:off x="-2456641" y="12737835"/>
                            <a:ext cx="1828800" cy="1117600"/>
                          </a:xfrm>
                          <a:prstGeom prst="rect">
                            <a:avLst/>
                          </a:prstGeom>
                        </p:spPr>
                      </p:pic>
                    </p:oleObj>
                  </mc:Fallback>
                </mc:AlternateContent>
              </a:graphicData>
            </a:graphic>
          </p:graphicFrame>
          <p:sp>
            <p:nvSpPr>
              <p:cNvPr id="44" name="TextBox 43"/>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45" name="TextBox 44"/>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grpSp>
        <p:nvGrpSpPr>
          <p:cNvPr id="54" name="Group 53"/>
          <p:cNvGrpSpPr/>
          <p:nvPr userDrawn="1"/>
        </p:nvGrpSpPr>
        <p:grpSpPr>
          <a:xfrm>
            <a:off x="44157839" y="-55065"/>
            <a:ext cx="11062139" cy="32973465"/>
            <a:chOff x="44157839" y="-55065"/>
            <a:chExt cx="11062139" cy="32973465"/>
          </a:xfrm>
        </p:grpSpPr>
        <p:sp>
          <p:nvSpPr>
            <p:cNvPr id="55" name="Rectangle 5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56" name="Object 5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11" imgW="4571280" imgH="1688760" progId="Photoshop.Image.13">
                    <p:embed/>
                  </p:oleObj>
                </mc:Choice>
                <mc:Fallback>
                  <p:oleObj name="Image" r:id="rId11" imgW="4571280" imgH="1688760" progId="Photoshop.Image.13">
                    <p:embed/>
                    <p:pic>
                      <p:nvPicPr>
                        <p:cNvPr id="0" name=""/>
                        <p:cNvPicPr/>
                        <p:nvPr/>
                      </p:nvPicPr>
                      <p:blipFill>
                        <a:blip r:embed="rId12"/>
                        <a:stretch>
                          <a:fillRect/>
                        </a:stretch>
                      </p:blipFill>
                      <p:spPr>
                        <a:xfrm>
                          <a:off x="46915679" y="3349444"/>
                          <a:ext cx="5586150" cy="2063772"/>
                        </a:xfrm>
                        <a:prstGeom prst="rect">
                          <a:avLst/>
                        </a:prstGeom>
                      </p:spPr>
                    </p:pic>
                  </p:oleObj>
                </mc:Fallback>
              </mc:AlternateContent>
            </a:graphicData>
          </a:graphic>
        </p:graphicFrame>
        <p:pic>
          <p:nvPicPr>
            <p:cNvPr id="57" name="Picture 56"/>
            <p:cNvPicPr>
              <a:picLocks noChangeAspect="1"/>
            </p:cNvPicPr>
            <p:nvPr userDrawn="1"/>
          </p:nvPicPr>
          <p:blipFill>
            <a:blip r:embed="rId13"/>
            <a:stretch>
              <a:fillRect/>
            </a:stretch>
          </p:blipFill>
          <p:spPr>
            <a:xfrm>
              <a:off x="44621819" y="7740040"/>
              <a:ext cx="2969584" cy="1370577"/>
            </a:xfrm>
            <a:prstGeom prst="rect">
              <a:avLst/>
            </a:prstGeom>
            <a:ln>
              <a:noFill/>
            </a:ln>
          </p:spPr>
        </p:pic>
        <p:graphicFrame>
          <p:nvGraphicFramePr>
            <p:cNvPr id="58" name="Object 5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14" imgW="1574280" imgH="1053720" progId="Photoshop.Image.13">
                    <p:embed/>
                  </p:oleObj>
                </mc:Choice>
                <mc:Fallback>
                  <p:oleObj name="Image" r:id="rId14" imgW="1574280" imgH="1053720" progId="Photoshop.Image.13">
                    <p:embed/>
                    <p:pic>
                      <p:nvPicPr>
                        <p:cNvPr id="0" name=""/>
                        <p:cNvPicPr/>
                        <p:nvPr/>
                      </p:nvPicPr>
                      <p:blipFill>
                        <a:blip r:embed="rId15"/>
                        <a:stretch>
                          <a:fillRect/>
                        </a:stretch>
                      </p:blipFill>
                      <p:spPr>
                        <a:xfrm>
                          <a:off x="44629619" y="12347263"/>
                          <a:ext cx="1482266" cy="992162"/>
                        </a:xfrm>
                        <a:prstGeom prst="rect">
                          <a:avLst/>
                        </a:prstGeom>
                      </p:spPr>
                    </p:pic>
                  </p:oleObj>
                </mc:Fallback>
              </mc:AlternateContent>
            </a:graphicData>
          </a:graphic>
        </p:graphicFrame>
        <p:grpSp>
          <p:nvGrpSpPr>
            <p:cNvPr id="59" name="Group 58"/>
            <p:cNvGrpSpPr/>
            <p:nvPr userDrawn="1"/>
          </p:nvGrpSpPr>
          <p:grpSpPr>
            <a:xfrm>
              <a:off x="44487207" y="29414560"/>
              <a:ext cx="10354213" cy="1265612"/>
              <a:chOff x="44200453" y="28362386"/>
              <a:chExt cx="9771399" cy="1090622"/>
            </a:xfrm>
          </p:grpSpPr>
          <p:sp>
            <p:nvSpPr>
              <p:cNvPr id="61" name="Rounded Rectangle 6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2" name="Picture 7" descr="http://t2.gstatic.com/images?q=tbn:ANd9GcR4APHC6TT9w54M2zn_pvCiBxUNcspYPoVxirLRphBoJabfSvu7zw">
                <a:hlinkClick r:id="rId16"/>
              </p:cNvPr>
              <p:cNvPicPr>
                <a:picLocks noChangeAspect="1" noChangeArrowheads="1"/>
              </p:cNvPicPr>
              <p:nvPr userDrawn="1"/>
            </p:nvPicPr>
            <p:blipFill>
              <a:blip r:embed="rId17" cstate="print"/>
              <a:srcRect/>
              <a:stretch>
                <a:fillRect/>
              </a:stretch>
            </p:blipFill>
            <p:spPr bwMode="auto">
              <a:xfrm>
                <a:off x="44326393" y="28460718"/>
                <a:ext cx="914401" cy="914399"/>
              </a:xfrm>
              <a:prstGeom prst="rect">
                <a:avLst/>
              </a:prstGeom>
              <a:noFill/>
              <a:ln>
                <a:noFill/>
              </a:ln>
            </p:spPr>
          </p:pic>
          <p:sp>
            <p:nvSpPr>
              <p:cNvPr id="63" name="TextBox 6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60" name="TextBox 5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cxnSp>
        <p:nvCxnSpPr>
          <p:cNvPr id="38" name="Straight Connector 37"/>
          <p:cNvCxnSpPr/>
          <p:nvPr/>
        </p:nvCxnSpPr>
        <p:spPr>
          <a:xfrm flipV="1">
            <a:off x="-13946601" y="11526118"/>
            <a:ext cx="13577436" cy="81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1" name="Rounded Rectangle 20"/>
          <p:cNvSpPr/>
          <p:nvPr userDrawn="1"/>
        </p:nvSpPr>
        <p:spPr>
          <a:xfrm>
            <a:off x="922338"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15154504" y="5392017"/>
            <a:ext cx="13577436" cy="26736675"/>
          </a:xfrm>
          <a:prstGeom prst="roundRect">
            <a:avLst>
              <a:gd name="adj" fmla="val 3524"/>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29386670" y="5392017"/>
            <a:ext cx="13577436" cy="26736675"/>
          </a:xfrm>
          <a:prstGeom prst="roundRect">
            <a:avLst>
              <a:gd name="adj" fmla="val 3290"/>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p:cNvGrpSpPr/>
          <p:nvPr userDrawn="1"/>
        </p:nvGrpSpPr>
        <p:grpSpPr>
          <a:xfrm>
            <a:off x="44157839" y="-55065"/>
            <a:ext cx="11062139" cy="32973465"/>
            <a:chOff x="44157839" y="-55065"/>
            <a:chExt cx="11062139" cy="32973465"/>
          </a:xfrm>
        </p:grpSpPr>
        <p:sp>
          <p:nvSpPr>
            <p:cNvPr id="45" name="Rectangle 44"/>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6" name="Object 45"/>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7" name="Picture 46"/>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8" name="Object 47"/>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9" name="Group 48"/>
            <p:cNvGrpSpPr/>
            <p:nvPr userDrawn="1"/>
          </p:nvGrpSpPr>
          <p:grpSpPr>
            <a:xfrm>
              <a:off x="44487207" y="29414560"/>
              <a:ext cx="10354213" cy="1265612"/>
              <a:chOff x="44200453" y="28362386"/>
              <a:chExt cx="9771399" cy="1090622"/>
            </a:xfrm>
          </p:grpSpPr>
          <p:sp>
            <p:nvSpPr>
              <p:cNvPr id="51" name="Rounded Rectangle 50"/>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3" name="TextBox 52"/>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50" name="TextBox 49"/>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4" name="Group 53"/>
          <p:cNvGrpSpPr/>
          <p:nvPr userDrawn="1"/>
        </p:nvGrpSpPr>
        <p:grpSpPr>
          <a:xfrm>
            <a:off x="-11225189" y="-1"/>
            <a:ext cx="11018865" cy="32918401"/>
            <a:chOff x="-11225189" y="-1"/>
            <a:chExt cx="11018865" cy="32918401"/>
          </a:xfrm>
        </p:grpSpPr>
        <p:sp>
          <p:nvSpPr>
            <p:cNvPr id="55" name="Rectangle 54"/>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6" name="Straight Connector 55"/>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7" name="Picture 56"/>
            <p:cNvPicPr>
              <a:picLocks noChangeAspect="1"/>
            </p:cNvPicPr>
            <p:nvPr userDrawn="1"/>
          </p:nvPicPr>
          <p:blipFill>
            <a:blip r:embed="rId10"/>
            <a:stretch>
              <a:fillRect/>
            </a:stretch>
          </p:blipFill>
          <p:spPr>
            <a:xfrm>
              <a:off x="-10740740" y="10261718"/>
              <a:ext cx="1597666" cy="1201935"/>
            </a:xfrm>
            <a:prstGeom prst="rect">
              <a:avLst/>
            </a:prstGeom>
          </p:spPr>
        </p:pic>
        <p:pic>
          <p:nvPicPr>
            <p:cNvPr id="58" name="Picture 57"/>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9" name="Group 58"/>
            <p:cNvGrpSpPr/>
            <p:nvPr userDrawn="1"/>
          </p:nvGrpSpPr>
          <p:grpSpPr>
            <a:xfrm>
              <a:off x="-9744993" y="23540957"/>
              <a:ext cx="7531182" cy="2120439"/>
              <a:chOff x="-4470427" y="11016658"/>
              <a:chExt cx="3470785" cy="974220"/>
            </a:xfrm>
          </p:grpSpPr>
          <p:grpSp>
            <p:nvGrpSpPr>
              <p:cNvPr id="65" name="Group 64"/>
              <p:cNvGrpSpPr/>
              <p:nvPr userDrawn="1"/>
            </p:nvGrpSpPr>
            <p:grpSpPr>
              <a:xfrm>
                <a:off x="-2783495" y="11060886"/>
                <a:ext cx="624431" cy="893535"/>
                <a:chOff x="-3958697" y="11117435"/>
                <a:chExt cx="779338" cy="1280430"/>
              </a:xfrm>
            </p:grpSpPr>
            <p:pic>
              <p:nvPicPr>
                <p:cNvPr id="71" name="Picture 70"/>
                <p:cNvPicPr>
                  <a:picLocks noChangeAspect="1"/>
                </p:cNvPicPr>
                <p:nvPr userDrawn="1"/>
              </p:nvPicPr>
              <p:blipFill>
                <a:blip r:embed="rId12"/>
                <a:stretch>
                  <a:fillRect/>
                </a:stretch>
              </p:blipFill>
              <p:spPr>
                <a:xfrm>
                  <a:off x="-3948160" y="11117435"/>
                  <a:ext cx="768801" cy="1090857"/>
                </a:xfrm>
                <a:prstGeom prst="rect">
                  <a:avLst/>
                </a:prstGeom>
              </p:spPr>
            </p:pic>
            <p:sp>
              <p:nvSpPr>
                <p:cNvPr id="72" name="TextBox 71"/>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6" name="Group 65"/>
              <p:cNvGrpSpPr/>
              <p:nvPr userDrawn="1"/>
            </p:nvGrpSpPr>
            <p:grpSpPr>
              <a:xfrm>
                <a:off x="-2033159" y="11060889"/>
                <a:ext cx="1033517" cy="893529"/>
                <a:chOff x="-2921738" y="11200127"/>
                <a:chExt cx="1420279" cy="1227904"/>
              </a:xfrm>
            </p:grpSpPr>
            <p:pic>
              <p:nvPicPr>
                <p:cNvPr id="69" name="Picture 68"/>
                <p:cNvPicPr>
                  <a:picLocks noChangeAspect="1"/>
                </p:cNvPicPr>
                <p:nvPr userDrawn="1"/>
              </p:nvPicPr>
              <p:blipFill>
                <a:blip r:embed="rId12"/>
                <a:stretch>
                  <a:fillRect/>
                </a:stretch>
              </p:blipFill>
              <p:spPr>
                <a:xfrm>
                  <a:off x="-2921738" y="11200127"/>
                  <a:ext cx="1420279" cy="1029694"/>
                </a:xfrm>
                <a:prstGeom prst="rect">
                  <a:avLst/>
                </a:prstGeom>
              </p:spPr>
            </p:pic>
            <p:sp>
              <p:nvSpPr>
                <p:cNvPr id="70" name="TextBox 69"/>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7" name="Picture 66"/>
              <p:cNvPicPr>
                <a:picLocks noChangeAspect="1"/>
              </p:cNvPicPr>
              <p:nvPr userDrawn="1"/>
            </p:nvPicPr>
            <p:blipFill>
              <a:blip r:embed="rId13"/>
              <a:stretch>
                <a:fillRect/>
              </a:stretch>
            </p:blipFill>
            <p:spPr>
              <a:xfrm>
                <a:off x="-4470427" y="11016658"/>
                <a:ext cx="1098742" cy="847761"/>
              </a:xfrm>
              <a:prstGeom prst="rect">
                <a:avLst/>
              </a:prstGeom>
            </p:spPr>
          </p:pic>
          <p:sp>
            <p:nvSpPr>
              <p:cNvPr id="68" name="TextBox 67"/>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60" name="Group 59"/>
            <p:cNvGrpSpPr/>
            <p:nvPr userDrawn="1"/>
          </p:nvGrpSpPr>
          <p:grpSpPr>
            <a:xfrm>
              <a:off x="-10398793" y="27751410"/>
              <a:ext cx="9323012" cy="2453251"/>
              <a:chOff x="-4754996" y="12734136"/>
              <a:chExt cx="4296559" cy="1127128"/>
            </a:xfrm>
          </p:grpSpPr>
          <p:graphicFrame>
            <p:nvGraphicFramePr>
              <p:cNvPr id="61" name="Object 60"/>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2" name="Object 61"/>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3" name="TextBox 62"/>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4" name="TextBox 63"/>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40"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5">
                <a:lumMod val="50000"/>
              </a:schemeClr>
            </a:gs>
            <a:gs pos="34000">
              <a:schemeClr val="tx2">
                <a:lumMod val="40000"/>
                <a:lumOff val="60000"/>
              </a:schemeClr>
            </a:gs>
            <a:gs pos="100000">
              <a:schemeClr val="accent5">
                <a:lumMod val="20000"/>
                <a:lumOff val="80000"/>
              </a:schemeClr>
            </a:gs>
          </a:gsLst>
          <a:lin ang="16200000" scaled="1"/>
          <a:tileRect/>
        </a:gradFill>
        <a:effectLst/>
      </p:bgPr>
    </p:bg>
    <p:spTree>
      <p:nvGrpSpPr>
        <p:cNvPr id="1" name=""/>
        <p:cNvGrpSpPr/>
        <p:nvPr/>
      </p:nvGrpSpPr>
      <p:grpSpPr>
        <a:xfrm>
          <a:off x="0" y="0"/>
          <a:ext cx="0" cy="0"/>
          <a:chOff x="0" y="0"/>
          <a:chExt cx="0" cy="0"/>
        </a:xfrm>
      </p:grpSpPr>
      <p:sp>
        <p:nvSpPr>
          <p:cNvPr id="7" name="Rectangle 36"/>
          <p:cNvSpPr>
            <a:spLocks noChangeArrowheads="1"/>
          </p:cNvSpPr>
          <p:nvPr/>
        </p:nvSpPr>
        <p:spPr bwMode="auto">
          <a:xfrm>
            <a:off x="0" y="0"/>
            <a:ext cx="43891200" cy="4800600"/>
          </a:xfrm>
          <a:prstGeom prst="rect">
            <a:avLst/>
          </a:prstGeom>
          <a:solidFill>
            <a:schemeClr val="accent5">
              <a:lumMod val="75000"/>
            </a:schemeClr>
          </a:solidFill>
          <a:ln w="9525">
            <a:solidFill>
              <a:schemeClr val="tx1"/>
            </a:solidFill>
            <a:miter lim="800000"/>
            <a:headEnd/>
            <a:tailEnd/>
          </a:ln>
          <a:effectLst/>
        </p:spPr>
        <p:txBody>
          <a:bodyPr wrap="none" lIns="91436" tIns="45717" rIns="91436" bIns="45717" anchor="ctr"/>
          <a:lstStyle/>
          <a:p>
            <a:pPr>
              <a:defRPr/>
            </a:pPr>
            <a:endParaRPr lang="en-US" dirty="0"/>
          </a:p>
        </p:txBody>
      </p:sp>
      <p:sp>
        <p:nvSpPr>
          <p:cNvPr id="9" name="Rectangle 9"/>
          <p:cNvSpPr>
            <a:spLocks noChangeArrowheads="1"/>
          </p:cNvSpPr>
          <p:nvPr/>
        </p:nvSpPr>
        <p:spPr bwMode="auto">
          <a:xfrm>
            <a:off x="0" y="4805363"/>
            <a:ext cx="43891200" cy="152400"/>
          </a:xfrm>
          <a:prstGeom prst="rect">
            <a:avLst/>
          </a:prstGeom>
          <a:solidFill>
            <a:schemeClr val="accent5">
              <a:lumMod val="50000"/>
            </a:schemeClr>
          </a:solidFill>
          <a:ln w="152400">
            <a:noFill/>
            <a:miter lim="800000"/>
            <a:headEnd/>
            <a:tailEnd/>
          </a:ln>
          <a:effectLst/>
        </p:spPr>
        <p:txBody>
          <a:bodyPr wrap="none" lIns="91436" tIns="45717" rIns="91436" bIns="45717" anchor="ctr"/>
          <a:lstStyle/>
          <a:p>
            <a:pPr>
              <a:defRPr/>
            </a:pPr>
            <a:endParaRPr lang="en-US" dirty="0"/>
          </a:p>
        </p:txBody>
      </p:sp>
      <p:sp>
        <p:nvSpPr>
          <p:cNvPr id="21" name="Rounded Rectangle 20"/>
          <p:cNvSpPr/>
          <p:nvPr userDrawn="1"/>
        </p:nvSpPr>
        <p:spPr>
          <a:xfrm>
            <a:off x="922338"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userDrawn="1"/>
        </p:nvSpPr>
        <p:spPr>
          <a:xfrm>
            <a:off x="32918400" y="5257800"/>
            <a:ext cx="10050462" cy="26736675"/>
          </a:xfrm>
          <a:prstGeom prst="roundRect">
            <a:avLst>
              <a:gd name="adj" fmla="val 5862"/>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2"/>
          <p:cNvSpPr/>
          <p:nvPr userDrawn="1"/>
        </p:nvSpPr>
        <p:spPr>
          <a:xfrm>
            <a:off x="11583194" y="5267325"/>
            <a:ext cx="20724813" cy="26736675"/>
          </a:xfrm>
          <a:prstGeom prst="roundRect">
            <a:avLst>
              <a:gd name="adj" fmla="val 2853"/>
            </a:avLst>
          </a:prstGeom>
          <a:gradFill>
            <a:gsLst>
              <a:gs pos="0">
                <a:srgbClr val="CDD2DE"/>
              </a:gs>
              <a:gs pos="0">
                <a:schemeClr val="tx2">
                  <a:lumMod val="40000"/>
                  <a:lumOff val="60000"/>
                </a:schemeClr>
              </a:gs>
              <a:gs pos="100000">
                <a:srgbClr val="F3F5FA"/>
              </a:gs>
            </a:gsLst>
            <a:lin ang="16200000" scaled="1"/>
          </a:gradFill>
          <a:ln>
            <a:solidFill>
              <a:schemeClr val="accent5">
                <a:lumMod val="50000"/>
                <a:alpha val="5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p:cNvGrpSpPr/>
          <p:nvPr userDrawn="1"/>
        </p:nvGrpSpPr>
        <p:grpSpPr>
          <a:xfrm>
            <a:off x="44157839" y="-55065"/>
            <a:ext cx="11062139" cy="32973465"/>
            <a:chOff x="44157839" y="-55065"/>
            <a:chExt cx="11062139" cy="32973465"/>
          </a:xfrm>
        </p:grpSpPr>
        <p:sp>
          <p:nvSpPr>
            <p:cNvPr id="44" name="Rectangle 43"/>
            <p:cNvSpPr/>
            <p:nvPr userDrawn="1"/>
          </p:nvSpPr>
          <p:spPr>
            <a:xfrm>
              <a:off x="44157839" y="-55065"/>
              <a:ext cx="11062139" cy="3297346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algn="ctr"/>
              <a:r>
                <a:rPr lang="en-US" sz="4000" b="1" spc="600" dirty="0">
                  <a:solidFill>
                    <a:schemeClr val="bg1"/>
                  </a:solidFill>
                  <a:latin typeface="Trebuchet MS" pitchFamily="34" charset="0"/>
                </a:rPr>
                <a:t>QUICK START (cont.)</a:t>
              </a:r>
            </a:p>
            <a:p>
              <a:pPr algn="ctr"/>
              <a:endParaRPr lang="en-US" sz="36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How to change the template color theme</a:t>
              </a:r>
            </a:p>
            <a:p>
              <a:pPr marL="0" marR="0" lvl="2" indent="0" algn="l" defTabSz="114300"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You can easily change the color theme of your poster by going to the DESIGN menu, click on COLORS, and choose the color theme of your choice. You can </a:t>
              </a:r>
              <a:r>
                <a:rPr lang="en-US" sz="2400" b="0" spc="0" baseline="0" dirty="0">
                  <a:solidFill>
                    <a:schemeClr val="bg1">
                      <a:lumMod val="75000"/>
                    </a:schemeClr>
                  </a:solidFill>
                  <a:latin typeface="Trebuchet MS" pitchFamily="34" charset="0"/>
                </a:rPr>
                <a:t>also create your own color theme.</a:t>
              </a:r>
            </a:p>
            <a:p>
              <a:pPr marL="0" marR="0" lvl="2"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endParaRPr lang="en-US" sz="2400" b="0" baseline="0" dirty="0">
                <a:solidFill>
                  <a:schemeClr val="bg1">
                    <a:lumMod val="75000"/>
                  </a:schemeClr>
                </a:solidFill>
                <a:latin typeface="Trebuchet MS" pitchFamily="34" charset="0"/>
              </a:endParaRPr>
            </a:p>
            <a:p>
              <a:pPr marL="0" indent="0" algn="l" defTabSz="114300"/>
              <a:r>
                <a:rPr lang="en-US" sz="2400" b="0" baseline="0" dirty="0">
                  <a:solidFill>
                    <a:schemeClr val="bg1">
                      <a:lumMod val="75000"/>
                    </a:schemeClr>
                  </a:solidFill>
                  <a:latin typeface="Trebuchet MS" pitchFamily="34" charset="0"/>
                </a:rPr>
                <a:t>You can also manually change the color of your background by going to VIEW &gt; SLIDE MASTER.  After you finish working on the master be sure to go to VIEW &gt; NORMAL to continue working on your poster.</a:t>
              </a:r>
            </a:p>
            <a:p>
              <a:pPr marL="0"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Text</a:t>
              </a:r>
            </a:p>
            <a:p>
              <a:pPr marL="3265488" lvl="2" indent="0" algn="l" defTabSz="114300"/>
              <a:r>
                <a:rPr lang="en-US" sz="2400" b="0" baseline="0" dirty="0">
                  <a:solidFill>
                    <a:schemeClr val="bg1">
                      <a:lumMod val="75000"/>
                    </a:schemeClr>
                  </a:solidFill>
                  <a:latin typeface="Trebuchet MS" pitchFamily="34" charset="0"/>
                </a:rPr>
                <a:t>The template comes with a number of pre-formatted placeholders for headers and text blocks. You can add more blocks by copying and pasting the existing ones or by adding a text box from the HOME menu. </a:t>
              </a:r>
            </a:p>
            <a:p>
              <a:pPr marL="1518341" lvl="2"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lang="en-US" sz="2400" b="0" baseline="0" dirty="0">
                  <a:solidFill>
                    <a:schemeClr val="bg1">
                      <a:lumMod val="75000"/>
                    </a:schemeClr>
                  </a:solidFill>
                  <a:latin typeface="Trebuchet MS" pitchFamily="34" charset="0"/>
                </a:rPr>
                <a:t> </a:t>
              </a:r>
              <a:r>
                <a:rPr kumimoji="0" lang="en-US" sz="3200" b="1" i="0" u="none" strike="noStrike" kern="1200" cap="none" spc="0" normalizeH="0" baseline="0" noProof="0" dirty="0">
                  <a:ln>
                    <a:noFill/>
                  </a:ln>
                  <a:solidFill>
                    <a:srgbClr val="FFC000"/>
                  </a:solidFill>
                  <a:effectLst/>
                  <a:uLnTx/>
                  <a:uFillTx/>
                  <a:latin typeface="Trebuchet MS" pitchFamily="34" charset="0"/>
                </a:rPr>
                <a:t>Text size</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Adjust the size of your text based on how much content you have to present. The default template text offers a good starting point. Follow the conference requirements.</a:t>
              </a:r>
              <a:endParaRPr lang="en-US" sz="2400" b="0" baseline="0" dirty="0">
                <a:solidFill>
                  <a:schemeClr val="bg1">
                    <a:lumMod val="75000"/>
                  </a:schemeClr>
                </a:solidFill>
                <a:latin typeface="Trebuchet MS" pitchFamily="34" charset="0"/>
              </a:endParaRPr>
            </a:p>
            <a:p>
              <a:pPr marL="1518341" lvl="2" indent="0" algn="l" defTabSz="114300"/>
              <a:endParaRPr lang="en-US" sz="2400" b="0" baseline="0" dirty="0">
                <a:solidFill>
                  <a:schemeClr val="bg1">
                    <a:lumMod val="75000"/>
                  </a:schemeClr>
                </a:solidFill>
                <a:latin typeface="Trebuchet MS" pitchFamily="34" charset="0"/>
              </a:endParaRPr>
            </a:p>
            <a:p>
              <a:pPr algn="ctr"/>
              <a:r>
                <a:rPr lang="en-US" sz="3200" b="1" baseline="0" dirty="0">
                  <a:solidFill>
                    <a:srgbClr val="FFC000"/>
                  </a:solidFill>
                  <a:latin typeface="Trebuchet MS" pitchFamily="34" charset="0"/>
                </a:rPr>
                <a:t>How to add Tables</a:t>
              </a:r>
            </a:p>
            <a:p>
              <a:pPr marL="1730375" lvl="1" indent="0" algn="l" defTabSz="114300"/>
              <a:r>
                <a:rPr lang="en-US" sz="2400" b="0" baseline="0" dirty="0">
                  <a:solidFill>
                    <a:schemeClr val="bg1">
                      <a:lumMod val="75000"/>
                    </a:schemeClr>
                  </a:solidFill>
                  <a:latin typeface="Trebuchet MS" pitchFamily="34" charset="0"/>
                </a:rPr>
                <a:t>To add a table from scratch go to the INSERT menu and </a:t>
              </a:r>
              <a:br>
                <a:rPr lang="en-US" sz="2400" b="0" baseline="0" dirty="0">
                  <a:solidFill>
                    <a:schemeClr val="bg1">
                      <a:lumMod val="75000"/>
                    </a:schemeClr>
                  </a:solidFill>
                  <a:latin typeface="Trebuchet MS" pitchFamily="34" charset="0"/>
                </a:rPr>
              </a:br>
              <a:r>
                <a:rPr lang="en-US" sz="2400" b="0" baseline="0" dirty="0">
                  <a:solidFill>
                    <a:schemeClr val="bg1">
                      <a:lumMod val="75000"/>
                    </a:schemeClr>
                  </a:solidFill>
                  <a:latin typeface="Trebuchet MS" pitchFamily="34" charset="0"/>
                </a:rPr>
                <a:t>click on TABLE. A drop-down box will help you select rows and columns. </a:t>
              </a:r>
            </a:p>
            <a:p>
              <a:pPr marL="0" lvl="0" indent="0" algn="l" defTabSz="114300"/>
              <a:r>
                <a:rPr lang="en-US" sz="2400" b="0" baseline="0" dirty="0">
                  <a:solidFill>
                    <a:schemeClr val="bg1">
                      <a:lumMod val="75000"/>
                    </a:schemeClr>
                  </a:solidFill>
                  <a:latin typeface="Trebuchet MS" pitchFamily="34" charset="0"/>
                </a:rPr>
                <a:t>You can also copy and a paste a table from Word or another PowerPoint document. A pasted table may need to be re-formatted by RIGHT-CLICK &gt; FORMAT SHAPE, TEXT BOX, Margins.</a:t>
              </a:r>
            </a:p>
            <a:p>
              <a:pPr marL="0" lvl="0" indent="0" algn="l" defTabSz="114300"/>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Graphs / Charts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You can simply copy and paste charts and graphs from Excel or Word. Some reformatting may be required depending on how the original document has been created.</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change the column configuration</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RIGHT-CLICK on the poster background and select LAYOUT to see the column options available for this template. The poster columns can also be customized on the Master. VIEW &gt; MASTER.</a:t>
              </a:r>
            </a:p>
            <a:p>
              <a:pPr marL="0" marR="0" lvl="0" indent="0" algn="ctr" defTabSz="1518341"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srgbClr val="FFC000"/>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How to remove the info bars</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If you are working in PowerPoint for Windows and have finished your poster, save as PDF and the bars will not be included. You can also delete them by going to VIEW &gt; MASTER. On the Mac adjust the Page-Setup to match the Page-Setup in PowerPoint before you create a PDF. You can also delete them from the Slide Master.</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lumMod val="75000"/>
                  </a:prstClr>
                </a:solidFill>
                <a:effectLst/>
                <a:uLnTx/>
                <a:uFillTx/>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Save your work</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Save your template as a PowerPoint document. For printing, save as PowerPoint or “Print-quality” PDF.</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400" b="0" baseline="0" dirty="0">
                <a:solidFill>
                  <a:schemeClr val="bg1">
                    <a:lumMod val="75000"/>
                  </a:schemeClr>
                </a:solidFill>
                <a:latin typeface="Trebuchet MS" pitchFamily="34" charset="0"/>
              </a:endParaRPr>
            </a:p>
            <a:p>
              <a:pPr marL="0" marR="0" lvl="0" indent="0" algn="ctr" defTabSz="1518341"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C000"/>
                  </a:solidFill>
                  <a:effectLst/>
                  <a:uLnTx/>
                  <a:uFillTx/>
                  <a:latin typeface="Trebuchet MS" pitchFamily="34" charset="0"/>
                </a:rPr>
                <a:t>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lumMod val="75000"/>
                    </a:prstClr>
                  </a:solidFill>
                  <a:effectLst/>
                  <a:uLnTx/>
                  <a:uFillTx/>
                  <a:latin typeface="Trebuchet MS" pitchFamily="34" charset="0"/>
                </a:rPr>
                <a:t>When you are ready to have your poster printed go online to PosterPresentations.com and click on the “Order Your Poster” button. Choose the poster type the best suits your needs and submit your order. If you submit a PowerPoint document you will be receiving a PDF proof for your approval prior to printing. If your order is placed and paid for before noon, Pacific, Monday through Friday, your order will ship out that same day. Next day, Second day, Third day, and Free Ground services are offered. Go to PosterPresentations.com for more information.</a:t>
              </a:r>
            </a:p>
            <a:p>
              <a:pPr marL="0" marR="0" lvl="0" indent="0" algn="l" defTabSz="114300" rtl="0" eaLnBrk="1" fontAlgn="auto" latinLnBrk="0" hangingPunct="1">
                <a:lnSpc>
                  <a:spcPct val="100000"/>
                </a:lnSpc>
                <a:spcBef>
                  <a:spcPts val="0"/>
                </a:spcBef>
                <a:spcAft>
                  <a:spcPts val="0"/>
                </a:spcAft>
                <a:buClrTx/>
                <a:buSzTx/>
                <a:buFontTx/>
                <a:buNone/>
                <a:tabLst/>
                <a:defRPr/>
              </a:pPr>
              <a:endParaRPr kumimoji="0" lang="en-US" sz="2800" b="0" i="0" u="none" strike="noStrike" kern="1200" cap="none" spc="0" normalizeH="0" baseline="0" noProof="0" dirty="0">
                <a:ln>
                  <a:noFill/>
                </a:ln>
                <a:solidFill>
                  <a:prstClr val="white">
                    <a:lumMod val="75000"/>
                  </a:prstClr>
                </a:solidFill>
                <a:effectLst/>
                <a:uLnTx/>
                <a:uFillTx/>
                <a:latin typeface="Trebuchet MS" pitchFamily="34" charset="0"/>
              </a:endParaRPr>
            </a:p>
          </p:txBody>
        </p:sp>
        <p:graphicFrame>
          <p:nvGraphicFramePr>
            <p:cNvPr id="45" name="Object 44"/>
            <p:cNvGraphicFramePr>
              <a:graphicFrameLocks noChangeAspect="1"/>
            </p:cNvGraphicFramePr>
            <p:nvPr userDrawn="1">
              <p:extLst>
                <p:ext uri="{D42A27DB-BD31-4B8C-83A1-F6EECF244321}">
                  <p14:modId xmlns:p14="http://schemas.microsoft.com/office/powerpoint/2010/main" val="262704017"/>
                </p:ext>
              </p:extLst>
            </p:nvPr>
          </p:nvGraphicFramePr>
          <p:xfrm>
            <a:off x="46915679" y="3349444"/>
            <a:ext cx="5586150" cy="2063772"/>
          </p:xfrm>
          <a:graphic>
            <a:graphicData uri="http://schemas.openxmlformats.org/presentationml/2006/ole">
              <mc:AlternateContent xmlns:mc="http://schemas.openxmlformats.org/markup-compatibility/2006">
                <mc:Choice xmlns:v="urn:schemas-microsoft-com:vml" Requires="v">
                  <p:oleObj name="Image" r:id="rId3" imgW="4571280" imgH="1688760" progId="Photoshop.Image.13">
                    <p:embed/>
                  </p:oleObj>
                </mc:Choice>
                <mc:Fallback>
                  <p:oleObj name="Image" r:id="rId3" imgW="4571280" imgH="1688760" progId="Photoshop.Image.13">
                    <p:embed/>
                    <p:pic>
                      <p:nvPicPr>
                        <p:cNvPr id="0" name=""/>
                        <p:cNvPicPr/>
                        <p:nvPr/>
                      </p:nvPicPr>
                      <p:blipFill>
                        <a:blip r:embed="rId4"/>
                        <a:stretch>
                          <a:fillRect/>
                        </a:stretch>
                      </p:blipFill>
                      <p:spPr>
                        <a:xfrm>
                          <a:off x="46915679" y="3349444"/>
                          <a:ext cx="5586150" cy="2063772"/>
                        </a:xfrm>
                        <a:prstGeom prst="rect">
                          <a:avLst/>
                        </a:prstGeom>
                      </p:spPr>
                    </p:pic>
                  </p:oleObj>
                </mc:Fallback>
              </mc:AlternateContent>
            </a:graphicData>
          </a:graphic>
        </p:graphicFrame>
        <p:pic>
          <p:nvPicPr>
            <p:cNvPr id="46" name="Picture 45"/>
            <p:cNvPicPr>
              <a:picLocks noChangeAspect="1"/>
            </p:cNvPicPr>
            <p:nvPr userDrawn="1"/>
          </p:nvPicPr>
          <p:blipFill>
            <a:blip r:embed="rId5"/>
            <a:stretch>
              <a:fillRect/>
            </a:stretch>
          </p:blipFill>
          <p:spPr>
            <a:xfrm>
              <a:off x="44621819" y="7740040"/>
              <a:ext cx="2969584" cy="1370577"/>
            </a:xfrm>
            <a:prstGeom prst="rect">
              <a:avLst/>
            </a:prstGeom>
            <a:ln>
              <a:noFill/>
            </a:ln>
          </p:spPr>
        </p:pic>
        <p:graphicFrame>
          <p:nvGraphicFramePr>
            <p:cNvPr id="47" name="Object 46"/>
            <p:cNvGraphicFramePr>
              <a:graphicFrameLocks noChangeAspect="1"/>
            </p:cNvGraphicFramePr>
            <p:nvPr userDrawn="1">
              <p:extLst>
                <p:ext uri="{D42A27DB-BD31-4B8C-83A1-F6EECF244321}">
                  <p14:modId xmlns:p14="http://schemas.microsoft.com/office/powerpoint/2010/main" val="2040245264"/>
                </p:ext>
              </p:extLst>
            </p:nvPr>
          </p:nvGraphicFramePr>
          <p:xfrm>
            <a:off x="44629619" y="12347263"/>
            <a:ext cx="1482266" cy="992162"/>
          </p:xfrm>
          <a:graphic>
            <a:graphicData uri="http://schemas.openxmlformats.org/presentationml/2006/ole">
              <mc:AlternateContent xmlns:mc="http://schemas.openxmlformats.org/markup-compatibility/2006">
                <mc:Choice xmlns:v="urn:schemas-microsoft-com:vml" Requires="v">
                  <p:oleObj name="Image" r:id="rId6" imgW="1574280" imgH="1053720" progId="Photoshop.Image.13">
                    <p:embed/>
                  </p:oleObj>
                </mc:Choice>
                <mc:Fallback>
                  <p:oleObj name="Image" r:id="rId6" imgW="1574280" imgH="1053720" progId="Photoshop.Image.13">
                    <p:embed/>
                    <p:pic>
                      <p:nvPicPr>
                        <p:cNvPr id="0" name=""/>
                        <p:cNvPicPr/>
                        <p:nvPr/>
                      </p:nvPicPr>
                      <p:blipFill>
                        <a:blip r:embed="rId7"/>
                        <a:stretch>
                          <a:fillRect/>
                        </a:stretch>
                      </p:blipFill>
                      <p:spPr>
                        <a:xfrm>
                          <a:off x="44629619" y="12347263"/>
                          <a:ext cx="1482266" cy="992162"/>
                        </a:xfrm>
                        <a:prstGeom prst="rect">
                          <a:avLst/>
                        </a:prstGeom>
                      </p:spPr>
                    </p:pic>
                  </p:oleObj>
                </mc:Fallback>
              </mc:AlternateContent>
            </a:graphicData>
          </a:graphic>
        </p:graphicFrame>
        <p:grpSp>
          <p:nvGrpSpPr>
            <p:cNvPr id="48" name="Group 47"/>
            <p:cNvGrpSpPr/>
            <p:nvPr userDrawn="1"/>
          </p:nvGrpSpPr>
          <p:grpSpPr>
            <a:xfrm>
              <a:off x="44487207" y="29414560"/>
              <a:ext cx="10354213" cy="1265612"/>
              <a:chOff x="44200453" y="28362386"/>
              <a:chExt cx="9771399" cy="1090622"/>
            </a:xfrm>
          </p:grpSpPr>
          <p:sp>
            <p:nvSpPr>
              <p:cNvPr id="50" name="Rounded Rectangle 49"/>
              <p:cNvSpPr/>
              <p:nvPr userDrawn="1"/>
            </p:nvSpPr>
            <p:spPr>
              <a:xfrm>
                <a:off x="44200453" y="28362386"/>
                <a:ext cx="9771398" cy="109062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7" descr="http://t2.gstatic.com/images?q=tbn:ANd9GcR4APHC6TT9w54M2zn_pvCiBxUNcspYPoVxirLRphBoJabfSvu7zw">
                <a:hlinkClick r:id="rId8"/>
              </p:cNvPr>
              <p:cNvPicPr>
                <a:picLocks noChangeAspect="1" noChangeArrowheads="1"/>
              </p:cNvPicPr>
              <p:nvPr userDrawn="1"/>
            </p:nvPicPr>
            <p:blipFill>
              <a:blip r:embed="rId9" cstate="print"/>
              <a:srcRect/>
              <a:stretch>
                <a:fillRect/>
              </a:stretch>
            </p:blipFill>
            <p:spPr bwMode="auto">
              <a:xfrm>
                <a:off x="44326393" y="28460718"/>
                <a:ext cx="914401" cy="914399"/>
              </a:xfrm>
              <a:prstGeom prst="rect">
                <a:avLst/>
              </a:prstGeom>
              <a:noFill/>
              <a:ln>
                <a:noFill/>
              </a:ln>
            </p:spPr>
          </p:pic>
          <p:sp>
            <p:nvSpPr>
              <p:cNvPr id="52" name="TextBox 51"/>
              <p:cNvSpPr txBox="1"/>
              <p:nvPr userDrawn="1"/>
            </p:nvSpPr>
            <p:spPr>
              <a:xfrm>
                <a:off x="45300663" y="28552305"/>
                <a:ext cx="8671189" cy="716099"/>
              </a:xfrm>
              <a:prstGeom prst="rect">
                <a:avLst/>
              </a:prstGeom>
              <a:noFill/>
              <a:ln>
                <a:noFill/>
              </a:ln>
            </p:spPr>
            <p:txBody>
              <a:bodyPr wrap="square" rtlCol="0">
                <a:spAutoFit/>
              </a:bodyPr>
              <a:lstStyle/>
              <a:p>
                <a:r>
                  <a:rPr lang="en-US" sz="2400" dirty="0">
                    <a:solidFill>
                      <a:schemeClr val="tx2"/>
                    </a:solidFill>
                    <a:latin typeface="Trebuchet MS" pitchFamily="34" charset="0"/>
                  </a:rPr>
                  <a:t>Student</a:t>
                </a:r>
                <a:r>
                  <a:rPr lang="en-US" sz="2400" baseline="0" dirty="0">
                    <a:solidFill>
                      <a:schemeClr val="tx2"/>
                    </a:solidFill>
                    <a:latin typeface="Trebuchet MS" pitchFamily="34" charset="0"/>
                  </a:rPr>
                  <a:t> discounts are available on our </a:t>
                </a:r>
                <a:r>
                  <a:rPr lang="en-US" sz="2400" baseline="0" dirty="0" err="1">
                    <a:solidFill>
                      <a:schemeClr val="tx2"/>
                    </a:solidFill>
                    <a:latin typeface="Trebuchet MS" pitchFamily="34" charset="0"/>
                  </a:rPr>
                  <a:t>Facebook</a:t>
                </a:r>
                <a:r>
                  <a:rPr lang="en-US" sz="2400" baseline="0" dirty="0">
                    <a:solidFill>
                      <a:schemeClr val="tx2"/>
                    </a:solidFill>
                    <a:latin typeface="Trebuchet MS" pitchFamily="34" charset="0"/>
                  </a:rPr>
                  <a:t> page.</a:t>
                </a:r>
                <a:br>
                  <a:rPr lang="en-US" sz="2400" baseline="0" dirty="0">
                    <a:solidFill>
                      <a:schemeClr val="tx2"/>
                    </a:solidFill>
                    <a:latin typeface="Trebuchet MS" pitchFamily="34" charset="0"/>
                  </a:rPr>
                </a:br>
                <a:r>
                  <a:rPr lang="en-US" sz="2400" baseline="0" dirty="0">
                    <a:solidFill>
                      <a:schemeClr val="tx2"/>
                    </a:solidFill>
                    <a:latin typeface="Trebuchet MS" pitchFamily="34" charset="0"/>
                  </a:rPr>
                  <a:t>Go to </a:t>
                </a:r>
                <a:r>
                  <a:rPr lang="en-US" sz="2400" u="sng" baseline="0" dirty="0">
                    <a:solidFill>
                      <a:schemeClr val="tx2"/>
                    </a:solidFill>
                    <a:latin typeface="Trebuchet MS" pitchFamily="34" charset="0"/>
                  </a:rPr>
                  <a:t>PosterPresentations.com</a:t>
                </a:r>
                <a:r>
                  <a:rPr lang="en-US" sz="2400" baseline="0" dirty="0">
                    <a:solidFill>
                      <a:schemeClr val="tx2"/>
                    </a:solidFill>
                    <a:latin typeface="Trebuchet MS" pitchFamily="34" charset="0"/>
                  </a:rPr>
                  <a:t> and click on the FB icon. </a:t>
                </a:r>
                <a:endParaRPr lang="en-US" sz="2400" dirty="0">
                  <a:solidFill>
                    <a:schemeClr val="tx2"/>
                  </a:solidFill>
                  <a:latin typeface="Trebuchet MS" pitchFamily="34" charset="0"/>
                </a:endParaRPr>
              </a:p>
            </p:txBody>
          </p:sp>
        </p:grpSp>
        <p:sp>
          <p:nvSpPr>
            <p:cNvPr id="49" name="TextBox 48"/>
            <p:cNvSpPr txBox="1"/>
            <p:nvPr userDrawn="1"/>
          </p:nvSpPr>
          <p:spPr>
            <a:xfrm>
              <a:off x="44262808" y="31169782"/>
              <a:ext cx="6870215" cy="1399638"/>
            </a:xfrm>
            <a:prstGeom prst="rect">
              <a:avLst/>
            </a:prstGeom>
            <a:noFill/>
          </p:spPr>
          <p:txBody>
            <a:bodyPr wrap="square" lIns="65304" tIns="32651" rIns="65304" bIns="32651" rtlCol="0">
              <a:spAutoFit/>
            </a:bodyPr>
            <a:lstStyle/>
            <a:p>
              <a:pPr>
                <a:lnSpc>
                  <a:spcPts val="2600"/>
                </a:lnSpc>
              </a:pPr>
              <a:r>
                <a:rPr lang="en-US" sz="2800" dirty="0">
                  <a:solidFill>
                    <a:schemeClr val="bg1"/>
                  </a:solidFill>
                </a:rPr>
                <a:t>© 2015</a:t>
              </a:r>
              <a:r>
                <a:rPr lang="en-US" sz="2800" baseline="0" dirty="0">
                  <a:solidFill>
                    <a:schemeClr val="bg1"/>
                  </a:solidFill>
                </a:rPr>
                <a:t> </a:t>
              </a:r>
              <a:r>
                <a:rPr lang="en-US" sz="2800" dirty="0">
                  <a:solidFill>
                    <a:schemeClr val="bg1"/>
                  </a:solidFill>
                </a:rPr>
                <a:t>PosterPresentations.com</a:t>
              </a:r>
              <a:br>
                <a:rPr lang="en-US" sz="2800" dirty="0">
                  <a:solidFill>
                    <a:schemeClr val="bg1"/>
                  </a:solidFill>
                </a:rPr>
              </a:br>
              <a:r>
                <a:rPr lang="en-US" sz="2800" dirty="0">
                  <a:solidFill>
                    <a:schemeClr val="bg1"/>
                  </a:solidFill>
                </a:rPr>
                <a:t>    </a:t>
              </a:r>
              <a:r>
                <a:rPr lang="en-US" sz="2400" dirty="0">
                  <a:solidFill>
                    <a:schemeClr val="bg1"/>
                  </a:solidFill>
                </a:rPr>
                <a:t>2117 Fourth Street ,</a:t>
              </a:r>
              <a:r>
                <a:rPr lang="en-US" sz="2400" baseline="0" dirty="0">
                  <a:solidFill>
                    <a:schemeClr val="bg1"/>
                  </a:solidFill>
                </a:rPr>
                <a:t> Unit C        </a:t>
              </a:r>
            </a:p>
            <a:p>
              <a:pPr>
                <a:lnSpc>
                  <a:spcPts val="2600"/>
                </a:lnSpc>
              </a:pPr>
              <a:r>
                <a:rPr lang="en-US" sz="2400" baseline="0" dirty="0">
                  <a:solidFill>
                    <a:schemeClr val="bg1"/>
                  </a:solidFill>
                </a:rPr>
                <a:t>     Berkeley CA </a:t>
              </a:r>
              <a:r>
                <a:rPr lang="en-US" sz="2000" baseline="0" dirty="0">
                  <a:solidFill>
                    <a:schemeClr val="bg1"/>
                  </a:solidFill>
                </a:rPr>
                <a:t>94710</a:t>
              </a:r>
              <a:br>
                <a:rPr lang="en-US" sz="2400" baseline="0" dirty="0">
                  <a:solidFill>
                    <a:schemeClr val="bg1"/>
                  </a:solidFill>
                </a:rPr>
              </a:br>
              <a:r>
                <a:rPr lang="en-US" sz="2400" baseline="0" dirty="0">
                  <a:solidFill>
                    <a:schemeClr val="bg1"/>
                  </a:solidFill>
                </a:rPr>
                <a:t>    </a:t>
              </a:r>
              <a:r>
                <a:rPr lang="en-US" sz="2400" b="1" baseline="0" dirty="0">
                  <a:solidFill>
                    <a:srgbClr val="FFFF00"/>
                  </a:solidFill>
                </a:rPr>
                <a:t>posterpresenter@gmail.com</a:t>
              </a:r>
              <a:endParaRPr lang="en-US" sz="2800" b="1" dirty="0">
                <a:solidFill>
                  <a:srgbClr val="FFFF00"/>
                </a:solidFill>
              </a:endParaRPr>
            </a:p>
          </p:txBody>
        </p:sp>
      </p:grpSp>
      <p:grpSp>
        <p:nvGrpSpPr>
          <p:cNvPr id="53" name="Group 52"/>
          <p:cNvGrpSpPr/>
          <p:nvPr userDrawn="1"/>
        </p:nvGrpSpPr>
        <p:grpSpPr>
          <a:xfrm>
            <a:off x="-11225189" y="-1"/>
            <a:ext cx="11018865" cy="32918401"/>
            <a:chOff x="-11225189" y="-1"/>
            <a:chExt cx="11018865" cy="32918401"/>
          </a:xfrm>
        </p:grpSpPr>
        <p:sp>
          <p:nvSpPr>
            <p:cNvPr id="54" name="Rectangle 53"/>
            <p:cNvSpPr/>
            <p:nvPr/>
          </p:nvSpPr>
          <p:spPr>
            <a:xfrm>
              <a:off x="-11216136" y="-1"/>
              <a:ext cx="11009812" cy="32918401"/>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tIns="457200" rIns="457200" bIns="0" rtlCol="0" anchor="t" anchorCtr="0"/>
            <a:lstStyle/>
            <a:p>
              <a:pPr marL="0" marR="0" indent="0" algn="ctr" defTabSz="1518341" rtl="0" eaLnBrk="1" fontAlgn="auto" latinLnBrk="0" hangingPunct="1">
                <a:lnSpc>
                  <a:spcPct val="100000"/>
                </a:lnSpc>
                <a:spcBef>
                  <a:spcPts val="0"/>
                </a:spcBef>
                <a:spcAft>
                  <a:spcPts val="0"/>
                </a:spcAft>
                <a:buClrTx/>
                <a:buSzTx/>
                <a:buFontTx/>
                <a:buNone/>
                <a:tabLst/>
                <a:defRPr/>
              </a:pPr>
              <a:r>
                <a:rPr lang="en-US" sz="3200" b="1" spc="0" dirty="0">
                  <a:solidFill>
                    <a:srgbClr val="FF0000"/>
                  </a:solidFill>
                  <a:latin typeface="Trebuchet MS" pitchFamily="34" charset="0"/>
                </a:rPr>
                <a:t>(—THIS SIDEBAR DOES NOT PRINT—)</a:t>
              </a:r>
              <a:endParaRPr lang="en-US" sz="3200" b="1" spc="600" dirty="0">
                <a:solidFill>
                  <a:schemeClr val="bg1"/>
                </a:solidFill>
                <a:latin typeface="Trebuchet MS" pitchFamily="34" charset="0"/>
              </a:endParaRPr>
            </a:p>
            <a:p>
              <a:pPr algn="ctr"/>
              <a:r>
                <a:rPr lang="en-US" sz="4000" b="1" spc="600" dirty="0">
                  <a:solidFill>
                    <a:schemeClr val="bg1"/>
                  </a:solidFill>
                  <a:latin typeface="Trebuchet MS" pitchFamily="34" charset="0"/>
                </a:rPr>
                <a:t>DESIGN</a:t>
              </a:r>
              <a:r>
                <a:rPr lang="en-US" sz="4000" b="1" spc="600" baseline="0" dirty="0">
                  <a:solidFill>
                    <a:schemeClr val="bg1"/>
                  </a:solidFill>
                  <a:latin typeface="Trebuchet MS" pitchFamily="34" charset="0"/>
                </a:rPr>
                <a:t> </a:t>
              </a:r>
              <a:r>
                <a:rPr lang="en-US" sz="4000" b="1" spc="600" dirty="0">
                  <a:solidFill>
                    <a:schemeClr val="bg1"/>
                  </a:solidFill>
                  <a:latin typeface="Trebuchet MS" pitchFamily="34" charset="0"/>
                </a:rPr>
                <a:t>GUIDE</a:t>
              </a:r>
            </a:p>
            <a:p>
              <a:pPr algn="ctr"/>
              <a:endParaRPr lang="en-US" sz="2800" b="1" dirty="0">
                <a:latin typeface="Trebuchet MS" pitchFamily="34" charset="0"/>
              </a:endParaRPr>
            </a:p>
            <a:p>
              <a:pPr defTabSz="3765639"/>
              <a:r>
                <a:rPr lang="en-US" sz="2800" i="0" dirty="0">
                  <a:latin typeface="Trebuchet MS" pitchFamily="34" charset="0"/>
                </a:rPr>
                <a:t>This PowerPoint</a:t>
              </a:r>
              <a:r>
                <a:rPr lang="en-US" sz="2800" i="0" baseline="0" dirty="0">
                  <a:latin typeface="Trebuchet MS" pitchFamily="34" charset="0"/>
                </a:rPr>
                <a:t> </a:t>
              </a:r>
              <a:r>
                <a:rPr lang="en-US" sz="2800" i="0" dirty="0">
                  <a:latin typeface="Trebuchet MS" pitchFamily="34" charset="0"/>
                </a:rPr>
                <a:t>2007 template produces</a:t>
              </a:r>
              <a:r>
                <a:rPr lang="en-US" sz="2800" i="0" baseline="0" dirty="0">
                  <a:latin typeface="Trebuchet MS" pitchFamily="34" charset="0"/>
                </a:rPr>
                <a:t> </a:t>
              </a:r>
              <a:r>
                <a:rPr lang="en-US" sz="2800" i="0" dirty="0">
                  <a:latin typeface="Trebuchet MS" pitchFamily="34" charset="0"/>
                </a:rPr>
                <a:t>a 36”x48” presentation poster. </a:t>
              </a:r>
              <a:r>
                <a:rPr lang="en-US" sz="2800" dirty="0">
                  <a:latin typeface="Trebuchet MS" pitchFamily="34" charset="0"/>
                </a:rPr>
                <a:t>You</a:t>
              </a:r>
              <a:r>
                <a:rPr lang="en-US" sz="2800" baseline="0" dirty="0">
                  <a:latin typeface="Trebuchet MS" pitchFamily="34" charset="0"/>
                </a:rPr>
                <a:t> can u</a:t>
              </a:r>
              <a:r>
                <a:rPr lang="en-US" sz="2800" dirty="0">
                  <a:latin typeface="Trebuchet MS" pitchFamily="34" charset="0"/>
                </a:rPr>
                <a:t>se</a:t>
              </a:r>
              <a:r>
                <a:rPr lang="en-US" sz="2800" baseline="0" dirty="0">
                  <a:latin typeface="Trebuchet MS" pitchFamily="34" charset="0"/>
                </a:rPr>
                <a:t> it to create your research poster and </a:t>
              </a:r>
              <a:r>
                <a:rPr lang="en-US" sz="2800" dirty="0">
                  <a:latin typeface="Trebuchet MS" pitchFamily="34" charset="0"/>
                </a:rPr>
                <a:t>save valuable time placing titles, subtitles,</a:t>
              </a:r>
              <a:r>
                <a:rPr lang="en-US" sz="2800" baseline="0" dirty="0">
                  <a:latin typeface="Trebuchet MS" pitchFamily="34" charset="0"/>
                </a:rPr>
                <a:t> text, and graphics</a:t>
              </a:r>
              <a:r>
                <a:rPr lang="en-US" sz="2800" dirty="0">
                  <a:latin typeface="Trebuchet MS" pitchFamily="34" charset="0"/>
                </a:rPr>
                <a:t>. </a:t>
              </a:r>
            </a:p>
            <a:p>
              <a:pPr defTabSz="3765639"/>
              <a:endParaRPr lang="en-US" sz="2800" dirty="0">
                <a:latin typeface="Trebuchet MS" pitchFamily="34" charset="0"/>
              </a:endParaRPr>
            </a:p>
            <a:p>
              <a:pPr defTabSz="4389219"/>
              <a:r>
                <a:rPr lang="en-US" sz="2800" dirty="0">
                  <a:latin typeface="Trebuchet MS" pitchFamily="34" charset="0"/>
                </a:rPr>
                <a:t>We provide a series of online tutorials that will guide you through the poster design process and answer your poster production questions. To view our template tutorials, go online to </a:t>
              </a:r>
              <a:r>
                <a:rPr lang="en-US" sz="2800" b="1" dirty="0">
                  <a:solidFill>
                    <a:srgbClr val="FFC000"/>
                  </a:solidFill>
                  <a:latin typeface="Trebuchet MS" pitchFamily="34" charset="0"/>
                </a:rPr>
                <a:t>PosterPresentations.com</a:t>
              </a:r>
              <a:r>
                <a:rPr lang="en-US" sz="2800" b="1" dirty="0">
                  <a:solidFill>
                    <a:schemeClr val="bg1"/>
                  </a:solidFill>
                  <a:latin typeface="Trebuchet MS" pitchFamily="34" charset="0"/>
                </a:rPr>
                <a:t> </a:t>
              </a:r>
              <a:r>
                <a:rPr lang="en-US" sz="2800" dirty="0">
                  <a:solidFill>
                    <a:schemeClr val="bg1"/>
                  </a:solidFill>
                  <a:latin typeface="Trebuchet MS" pitchFamily="34" charset="0"/>
                </a:rPr>
                <a:t>and click on HELP DESK.</a:t>
              </a:r>
            </a:p>
            <a:p>
              <a:pPr defTabSz="4389219"/>
              <a:endParaRPr lang="en-US" sz="2800" dirty="0">
                <a:latin typeface="Trebuchet MS" pitchFamily="34" charset="0"/>
              </a:endParaRPr>
            </a:p>
            <a:p>
              <a:pPr defTabSz="4389219"/>
              <a:r>
                <a:rPr lang="en-US" sz="2800" dirty="0">
                  <a:solidFill>
                    <a:schemeClr val="bg1"/>
                  </a:solidFill>
                  <a:latin typeface="Trebuchet MS" pitchFamily="34" charset="0"/>
                </a:rPr>
                <a:t>When</a:t>
              </a:r>
              <a:r>
                <a:rPr lang="en-US" sz="2800" baseline="0" dirty="0">
                  <a:solidFill>
                    <a:schemeClr val="bg1"/>
                  </a:solidFill>
                  <a:latin typeface="Trebuchet MS" pitchFamily="34" charset="0"/>
                </a:rPr>
                <a:t> you are ready to print your poster</a:t>
              </a:r>
              <a:r>
                <a:rPr lang="en-US" sz="2800" dirty="0">
                  <a:solidFill>
                    <a:schemeClr val="bg1"/>
                  </a:solidFill>
                  <a:latin typeface="Trebuchet MS" pitchFamily="34" charset="0"/>
                </a:rPr>
                <a:t>,</a:t>
              </a:r>
              <a:r>
                <a:rPr lang="en-US" sz="2800" baseline="0" dirty="0">
                  <a:solidFill>
                    <a:schemeClr val="bg1"/>
                  </a:solidFill>
                  <a:latin typeface="Trebuchet MS" pitchFamily="34" charset="0"/>
                </a:rPr>
                <a:t> go online to </a:t>
              </a:r>
              <a:r>
                <a:rPr lang="en-US" sz="2800" b="0" dirty="0">
                  <a:solidFill>
                    <a:schemeClr val="bg1"/>
                  </a:solidFill>
                  <a:latin typeface="Trebuchet MS" pitchFamily="34" charset="0"/>
                </a:rPr>
                <a:t>PosterPresentations.com</a:t>
              </a:r>
              <a:br>
                <a:rPr lang="en-US" sz="2800" dirty="0">
                  <a:solidFill>
                    <a:schemeClr val="bg1"/>
                  </a:solidFill>
                  <a:latin typeface="Trebuchet MS" pitchFamily="34" charset="0"/>
                </a:rPr>
              </a:br>
              <a:endParaRPr lang="en-US" sz="2800" dirty="0">
                <a:solidFill>
                  <a:schemeClr val="bg1"/>
                </a:solidFill>
                <a:latin typeface="Trebuchet MS" pitchFamily="34" charset="0"/>
              </a:endParaRPr>
            </a:p>
            <a:p>
              <a:pPr algn="l" defTabSz="3765639"/>
              <a:r>
                <a:rPr lang="en-US" sz="2800" b="0" dirty="0">
                  <a:solidFill>
                    <a:schemeClr val="bg1"/>
                  </a:solidFill>
                  <a:latin typeface="Trebuchet MS" pitchFamily="34" charset="0"/>
                </a:rPr>
                <a:t>Need</a:t>
              </a:r>
              <a:r>
                <a:rPr lang="en-US" sz="2800" b="0" baseline="0" dirty="0">
                  <a:solidFill>
                    <a:schemeClr val="bg1"/>
                  </a:solidFill>
                  <a:latin typeface="Trebuchet MS" pitchFamily="34" charset="0"/>
                </a:rPr>
                <a:t> assistance? Call us at </a:t>
              </a:r>
              <a:r>
                <a:rPr lang="en-US" sz="2800" b="0" dirty="0">
                  <a:solidFill>
                    <a:srgbClr val="FFC000"/>
                  </a:solidFill>
                  <a:latin typeface="Trebuchet MS" pitchFamily="34" charset="0"/>
                </a:rPr>
                <a:t>1.510.649.3001</a:t>
              </a:r>
            </a:p>
            <a:p>
              <a:pPr algn="l" defTabSz="3765639"/>
              <a:endParaRPr lang="en-US" sz="3600" b="1" dirty="0">
                <a:solidFill>
                  <a:srgbClr val="FFFF00"/>
                </a:solidFill>
                <a:latin typeface="Trebuchet MS" pitchFamily="34" charset="0"/>
              </a:endParaRPr>
            </a:p>
            <a:p>
              <a:pPr algn="ctr"/>
              <a:endParaRPr lang="en-US" sz="2400" b="1" dirty="0">
                <a:solidFill>
                  <a:schemeClr val="bg1"/>
                </a:solidFill>
                <a:latin typeface="Trebuchet MS" pitchFamily="34" charset="0"/>
              </a:endParaRPr>
            </a:p>
            <a:p>
              <a:pPr algn="ctr"/>
              <a:r>
                <a:rPr lang="en-US" sz="4000" b="1" spc="600" dirty="0">
                  <a:solidFill>
                    <a:schemeClr val="bg1"/>
                  </a:solidFill>
                  <a:latin typeface="Trebuchet MS" pitchFamily="34" charset="0"/>
                </a:rPr>
                <a:t>QUICK START</a:t>
              </a:r>
            </a:p>
            <a:p>
              <a:pPr algn="ctr"/>
              <a:endParaRPr lang="en-US" sz="3200" b="1"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Zoom in and out</a:t>
              </a:r>
            </a:p>
            <a:p>
              <a:pPr marL="1892300" indent="-1892300" algn="l" defTabSz="850900"/>
              <a:r>
                <a:rPr lang="en-US" sz="2400" b="0" baseline="0" dirty="0">
                  <a:solidFill>
                    <a:schemeClr val="bg1"/>
                  </a:solidFill>
                  <a:latin typeface="Trebuchet MS" pitchFamily="34" charset="0"/>
                </a:rPr>
                <a:t>	</a:t>
              </a:r>
              <a:r>
                <a:rPr lang="en-US" sz="2400" b="0" baseline="0" dirty="0">
                  <a:solidFill>
                    <a:schemeClr val="bg1">
                      <a:lumMod val="75000"/>
                    </a:schemeClr>
                  </a:solidFill>
                  <a:latin typeface="Trebuchet MS" pitchFamily="34" charset="0"/>
                </a:rPr>
                <a:t>As you work on your poster zoom in and out to the level that is more comfortable to you. </a:t>
              </a:r>
            </a:p>
            <a:p>
              <a:pPr marL="1892300" indent="-1892300" algn="l" defTabSz="850900"/>
              <a:r>
                <a:rPr lang="en-US" sz="2400" b="1" baseline="0" dirty="0">
                  <a:solidFill>
                    <a:schemeClr val="bg1">
                      <a:lumMod val="75000"/>
                    </a:schemeClr>
                  </a:solidFill>
                  <a:latin typeface="Trebuchet MS" pitchFamily="34" charset="0"/>
                </a:rPr>
                <a:t>	</a:t>
              </a:r>
              <a:r>
                <a:rPr lang="en-US" sz="2400" b="0" baseline="0" dirty="0">
                  <a:solidFill>
                    <a:schemeClr val="bg1">
                      <a:lumMod val="75000"/>
                    </a:schemeClr>
                  </a:solidFill>
                  <a:latin typeface="Trebuchet MS" pitchFamily="34" charset="0"/>
                </a:rPr>
                <a:t>Go to VIEW &gt; ZOOM.</a:t>
              </a:r>
            </a:p>
            <a:p>
              <a:pPr algn="l"/>
              <a:endParaRPr lang="en-US" sz="2800" b="0" baseline="0" dirty="0">
                <a:solidFill>
                  <a:schemeClr val="bg1"/>
                </a:solidFill>
                <a:latin typeface="Trebuchet MS" pitchFamily="34" charset="0"/>
              </a:endParaRPr>
            </a:p>
            <a:p>
              <a:pPr algn="ctr"/>
              <a:r>
                <a:rPr lang="en-US" sz="3200" b="1" baseline="0" dirty="0">
                  <a:solidFill>
                    <a:srgbClr val="FFC000"/>
                  </a:solidFill>
                  <a:latin typeface="Trebuchet MS" pitchFamily="34" charset="0"/>
                </a:rPr>
                <a:t>Title, Authors, and Affiliations</a:t>
              </a:r>
            </a:p>
            <a:p>
              <a:pPr algn="l"/>
              <a:r>
                <a:rPr lang="en-US" sz="2400" b="0" baseline="0" dirty="0">
                  <a:solidFill>
                    <a:schemeClr val="bg1">
                      <a:lumMod val="75000"/>
                    </a:schemeClr>
                  </a:solidFill>
                  <a:latin typeface="Trebuchet MS" pitchFamily="34" charset="0"/>
                </a:rPr>
                <a:t>Start designing your poster by adding the title, the names of the authors, and the affiliated institutions. </a:t>
              </a:r>
              <a:r>
                <a:rPr lang="en-US" sz="2400" b="0" spc="0" baseline="0" dirty="0">
                  <a:solidFill>
                    <a:schemeClr val="bg1">
                      <a:lumMod val="75000"/>
                    </a:schemeClr>
                  </a:solidFill>
                  <a:latin typeface="Trebuchet MS" pitchFamily="34" charset="0"/>
                </a:rPr>
                <a:t>You can type or paste text into the provided boxes. The template will automatically adjust the size of your text to fit the title box. You can manually override this feature and change the size of your text. </a:t>
              </a:r>
            </a:p>
            <a:p>
              <a:pPr algn="l"/>
              <a:endParaRPr lang="en-US" sz="2400" b="0" spc="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The font size of your title should be bigger than your name(s) and institution name(s).</a:t>
              </a:r>
            </a:p>
            <a:p>
              <a:pPr algn="l"/>
              <a:br>
                <a:rPr lang="en-US" sz="2800" b="1" baseline="0" dirty="0">
                  <a:solidFill>
                    <a:schemeClr val="bg1"/>
                  </a:solidFill>
                  <a:latin typeface="Trebuchet MS" pitchFamily="34" charset="0"/>
                </a:rPr>
              </a:br>
              <a:endParaRPr lang="en-US" sz="2800" b="1" dirty="0">
                <a:solidFill>
                  <a:schemeClr val="bg1"/>
                </a:solidFill>
                <a:latin typeface="Trebuchet MS" pitchFamily="34" charset="0"/>
              </a:endParaRPr>
            </a:p>
            <a:p>
              <a:pPr algn="ctr"/>
              <a:endParaRPr lang="en-US" sz="2800" b="1" dirty="0">
                <a:solidFill>
                  <a:srgbClr val="FFC000"/>
                </a:solidFill>
                <a:latin typeface="Trebuchet MS" pitchFamily="34" charset="0"/>
              </a:endParaRPr>
            </a:p>
            <a:p>
              <a:pPr algn="ctr"/>
              <a:endParaRPr lang="en-US" sz="2800" b="1" dirty="0">
                <a:solidFill>
                  <a:srgbClr val="FFC000"/>
                </a:solidFill>
                <a:latin typeface="Trebuchet MS" pitchFamily="34" charset="0"/>
              </a:endParaRPr>
            </a:p>
            <a:p>
              <a:pPr algn="ctr"/>
              <a:r>
                <a:rPr lang="en-US" sz="3200" b="1" dirty="0">
                  <a:solidFill>
                    <a:srgbClr val="FFC000"/>
                  </a:solidFill>
                  <a:latin typeface="Trebuchet MS" pitchFamily="34" charset="0"/>
                </a:rPr>
                <a:t>Adding Logos</a:t>
              </a:r>
              <a:r>
                <a:rPr lang="en-US" sz="3200" b="1" baseline="0" dirty="0">
                  <a:solidFill>
                    <a:srgbClr val="FFC000"/>
                  </a:solidFill>
                  <a:latin typeface="Trebuchet MS" pitchFamily="34" charset="0"/>
                </a:rPr>
                <a:t> / Seals</a:t>
              </a:r>
            </a:p>
            <a:p>
              <a:pPr algn="l"/>
              <a:r>
                <a:rPr lang="en-US" sz="2400" b="0" baseline="0" dirty="0">
                  <a:solidFill>
                    <a:schemeClr val="bg1">
                      <a:lumMod val="75000"/>
                    </a:schemeClr>
                  </a:solidFill>
                  <a:latin typeface="Trebuchet MS" pitchFamily="34" charset="0"/>
                </a:rPr>
                <a:t>Most often, logos are added on each side of the title. You can insert a logo by dragging and dropping it from your desktop, copy and paste or by going to INSERT &gt; PICTURES. Logos taken from web sites are likely to be low quality when printed. Zoom it at 100% to see what the logo will look like on the final poster and make any necessary adjustments.  </a:t>
              </a:r>
            </a:p>
            <a:p>
              <a:pPr algn="l"/>
              <a:endParaRPr lang="en-US" sz="2400" b="0" spc="300" baseline="0" dirty="0">
                <a:solidFill>
                  <a:schemeClr val="bg1">
                    <a:lumMod val="75000"/>
                  </a:schemeClr>
                </a:solidFill>
                <a:latin typeface="Trebuchet MS" pitchFamily="34" charset="0"/>
              </a:endParaRPr>
            </a:p>
            <a:p>
              <a:pPr algn="l"/>
              <a:r>
                <a:rPr lang="en-US" sz="2400" b="1" spc="300" baseline="0" dirty="0">
                  <a:solidFill>
                    <a:srgbClr val="FFC000"/>
                  </a:solidFill>
                  <a:latin typeface="Trebuchet MS" pitchFamily="34" charset="0"/>
                </a:rPr>
                <a:t>TIP:</a:t>
              </a:r>
              <a:r>
                <a:rPr lang="en-US" sz="2400" b="1" spc="0" baseline="0" dirty="0">
                  <a:solidFill>
                    <a:srgbClr val="FFC000"/>
                  </a:solidFill>
                  <a:latin typeface="Trebuchet MS" pitchFamily="34" charset="0"/>
                </a:rPr>
                <a:t> </a:t>
              </a:r>
              <a:r>
                <a:rPr lang="en-US" sz="2400" b="0" baseline="0" dirty="0">
                  <a:solidFill>
                    <a:schemeClr val="bg1">
                      <a:lumMod val="75000"/>
                    </a:schemeClr>
                  </a:solidFill>
                  <a:latin typeface="Trebuchet MS" pitchFamily="34" charset="0"/>
                </a:rPr>
                <a:t>See if your school’s logo is available on our free poster templates page.</a:t>
              </a:r>
            </a:p>
            <a:p>
              <a:pPr algn="l"/>
              <a:endParaRPr lang="en-US" sz="2400" b="0" baseline="0" dirty="0">
                <a:latin typeface="Trebuchet MS" pitchFamily="34" charset="0"/>
              </a:endParaRPr>
            </a:p>
            <a:p>
              <a:pPr algn="ctr"/>
              <a:r>
                <a:rPr lang="en-US" sz="3200" b="1" baseline="0" dirty="0">
                  <a:solidFill>
                    <a:srgbClr val="FFC000"/>
                  </a:solidFill>
                  <a:latin typeface="Trebuchet MS" pitchFamily="34" charset="0"/>
                </a:rPr>
                <a:t>Photographs / Graphics</a:t>
              </a:r>
            </a:p>
            <a:p>
              <a:pPr algn="l" defTabSz="977900"/>
              <a:r>
                <a:rPr lang="en-US" sz="2400" b="0" baseline="0" dirty="0">
                  <a:solidFill>
                    <a:schemeClr val="bg1">
                      <a:lumMod val="75000"/>
                    </a:schemeClr>
                  </a:solidFill>
                  <a:latin typeface="Trebuchet MS" pitchFamily="34" charset="0"/>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a:t>
              </a:r>
              <a:r>
                <a:rPr lang="en-US" sz="2400" b="0" spc="0" baseline="0" dirty="0">
                  <a:solidFill>
                    <a:schemeClr val="bg1">
                      <a:lumMod val="75000"/>
                    </a:schemeClr>
                  </a:solidFill>
                  <a:latin typeface="Trebuchet MS" pitchFamily="34" charset="0"/>
                </a:rPr>
                <a:t>disproportionally.</a:t>
              </a:r>
            </a:p>
            <a:p>
              <a:pPr algn="l" defTabSz="977900"/>
              <a:endParaRPr lang="en-US" sz="2400" b="0" baseline="0" dirty="0">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endParaRPr lang="en-US" sz="2800" b="1" baseline="0" dirty="0">
                <a:solidFill>
                  <a:srgbClr val="FFC000"/>
                </a:solidFill>
                <a:latin typeface="Trebuchet MS" pitchFamily="34" charset="0"/>
              </a:endParaRPr>
            </a:p>
            <a:p>
              <a:pPr algn="ctr"/>
              <a:r>
                <a:rPr lang="en-US" sz="3200" b="1" baseline="0" dirty="0">
                  <a:solidFill>
                    <a:srgbClr val="FFC000"/>
                  </a:solidFill>
                  <a:latin typeface="Trebuchet MS" pitchFamily="34" charset="0"/>
                </a:rPr>
                <a:t>Image Quality Check</a:t>
              </a:r>
            </a:p>
            <a:p>
              <a:pPr lvl="0" algn="l" defTabSz="977900"/>
              <a:r>
                <a:rPr lang="en-US" sz="2400" b="0" baseline="0" dirty="0">
                  <a:solidFill>
                    <a:schemeClr val="bg1">
                      <a:lumMod val="75000"/>
                    </a:schemeClr>
                  </a:solidFill>
                  <a:latin typeface="Trebuchet MS" pitchFamily="34" charset="0"/>
                </a:rPr>
                <a:t>Zoom in and look at your images at 100% magnification. If they look good they will print well. </a:t>
              </a:r>
              <a:endParaRPr lang="en-US" sz="2800" b="0" dirty="0">
                <a:latin typeface="Trebuchet MS" pitchFamily="34" charset="0"/>
              </a:endParaRPr>
            </a:p>
          </p:txBody>
        </p:sp>
        <p:cxnSp>
          <p:nvCxnSpPr>
            <p:cNvPr id="55" name="Straight Connector 54"/>
            <p:cNvCxnSpPr/>
            <p:nvPr/>
          </p:nvCxnSpPr>
          <p:spPr>
            <a:xfrm>
              <a:off x="-11225189" y="8422500"/>
              <a:ext cx="10999746" cy="334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pic>
          <p:nvPicPr>
            <p:cNvPr id="56" name="Picture 55"/>
            <p:cNvPicPr>
              <a:picLocks noChangeAspect="1"/>
            </p:cNvPicPr>
            <p:nvPr userDrawn="1"/>
          </p:nvPicPr>
          <p:blipFill>
            <a:blip r:embed="rId10"/>
            <a:stretch>
              <a:fillRect/>
            </a:stretch>
          </p:blipFill>
          <p:spPr>
            <a:xfrm>
              <a:off x="-10740740" y="10261718"/>
              <a:ext cx="1597666" cy="1201935"/>
            </a:xfrm>
            <a:prstGeom prst="rect">
              <a:avLst/>
            </a:prstGeom>
          </p:spPr>
        </p:pic>
        <p:pic>
          <p:nvPicPr>
            <p:cNvPr id="57" name="Picture 56"/>
            <p:cNvPicPr>
              <a:picLocks noChangeAspect="1"/>
            </p:cNvPicPr>
            <p:nvPr userDrawn="1"/>
          </p:nvPicPr>
          <p:blipFill>
            <a:blip r:embed="rId11"/>
            <a:stretch>
              <a:fillRect/>
            </a:stretch>
          </p:blipFill>
          <p:spPr>
            <a:xfrm>
              <a:off x="-10732765" y="15696927"/>
              <a:ext cx="9986808" cy="1053596"/>
            </a:xfrm>
            <a:prstGeom prst="rect">
              <a:avLst/>
            </a:prstGeom>
          </p:spPr>
        </p:pic>
        <p:grpSp>
          <p:nvGrpSpPr>
            <p:cNvPr id="58" name="Group 57"/>
            <p:cNvGrpSpPr/>
            <p:nvPr userDrawn="1"/>
          </p:nvGrpSpPr>
          <p:grpSpPr>
            <a:xfrm>
              <a:off x="-9744993" y="23540957"/>
              <a:ext cx="7531182" cy="2120439"/>
              <a:chOff x="-4470427" y="11016658"/>
              <a:chExt cx="3470785" cy="974220"/>
            </a:xfrm>
          </p:grpSpPr>
          <p:grpSp>
            <p:nvGrpSpPr>
              <p:cNvPr id="64" name="Group 63"/>
              <p:cNvGrpSpPr/>
              <p:nvPr userDrawn="1"/>
            </p:nvGrpSpPr>
            <p:grpSpPr>
              <a:xfrm>
                <a:off x="-2783495" y="11060886"/>
                <a:ext cx="624431" cy="893535"/>
                <a:chOff x="-3958697" y="11117435"/>
                <a:chExt cx="779338" cy="1280430"/>
              </a:xfrm>
            </p:grpSpPr>
            <p:pic>
              <p:nvPicPr>
                <p:cNvPr id="70" name="Picture 69"/>
                <p:cNvPicPr>
                  <a:picLocks noChangeAspect="1"/>
                </p:cNvPicPr>
                <p:nvPr userDrawn="1"/>
              </p:nvPicPr>
              <p:blipFill>
                <a:blip r:embed="rId12"/>
                <a:stretch>
                  <a:fillRect/>
                </a:stretch>
              </p:blipFill>
              <p:spPr>
                <a:xfrm>
                  <a:off x="-3948160" y="11117435"/>
                  <a:ext cx="768801" cy="1090857"/>
                </a:xfrm>
                <a:prstGeom prst="rect">
                  <a:avLst/>
                </a:prstGeom>
              </p:spPr>
            </p:pic>
            <p:sp>
              <p:nvSpPr>
                <p:cNvPr id="71" name="TextBox 70"/>
                <p:cNvSpPr txBox="1"/>
                <p:nvPr userDrawn="1"/>
              </p:nvSpPr>
              <p:spPr>
                <a:xfrm>
                  <a:off x="-3958697" y="12114178"/>
                  <a:ext cx="779337" cy="283687"/>
                </a:xfrm>
                <a:prstGeom prst="rect">
                  <a:avLst/>
                </a:prstGeom>
                <a:solidFill>
                  <a:schemeClr val="accent1"/>
                </a:solidFill>
                <a:ln>
                  <a:noFill/>
                </a:ln>
              </p:spPr>
              <p:txBody>
                <a:bodyPr wrap="square" lIns="91440" tIns="91440" rIns="91440" bIns="91440" rtlCol="0">
                  <a:spAutoFit/>
                </a:bodyPr>
                <a:lstStyle/>
                <a:p>
                  <a:pPr algn="ctr"/>
                  <a:r>
                    <a:rPr lang="en-US" sz="1600" b="1" dirty="0">
                      <a:solidFill>
                        <a:schemeClr val="tx1"/>
                      </a:solidFill>
                    </a:rPr>
                    <a:t>ORIGINAL</a:t>
                  </a:r>
                </a:p>
              </p:txBody>
            </p:sp>
          </p:grpSp>
          <p:grpSp>
            <p:nvGrpSpPr>
              <p:cNvPr id="65" name="Group 64"/>
              <p:cNvGrpSpPr/>
              <p:nvPr userDrawn="1"/>
            </p:nvGrpSpPr>
            <p:grpSpPr>
              <a:xfrm>
                <a:off x="-2033159" y="11060889"/>
                <a:ext cx="1033517" cy="893529"/>
                <a:chOff x="-2921738" y="11200127"/>
                <a:chExt cx="1420279" cy="1227904"/>
              </a:xfrm>
            </p:grpSpPr>
            <p:pic>
              <p:nvPicPr>
                <p:cNvPr id="68" name="Picture 67"/>
                <p:cNvPicPr>
                  <a:picLocks noChangeAspect="1"/>
                </p:cNvPicPr>
                <p:nvPr userDrawn="1"/>
              </p:nvPicPr>
              <p:blipFill>
                <a:blip r:embed="rId12"/>
                <a:stretch>
                  <a:fillRect/>
                </a:stretch>
              </p:blipFill>
              <p:spPr>
                <a:xfrm>
                  <a:off x="-2921738" y="11200127"/>
                  <a:ext cx="1420279" cy="1029694"/>
                </a:xfrm>
                <a:prstGeom prst="rect">
                  <a:avLst/>
                </a:prstGeom>
              </p:spPr>
            </p:pic>
            <p:sp>
              <p:nvSpPr>
                <p:cNvPr id="69" name="TextBox 68"/>
                <p:cNvSpPr txBox="1"/>
                <p:nvPr userDrawn="1"/>
              </p:nvSpPr>
              <p:spPr>
                <a:xfrm>
                  <a:off x="-2918991" y="12175418"/>
                  <a:ext cx="1417532" cy="252613"/>
                </a:xfrm>
                <a:prstGeom prst="rect">
                  <a:avLst/>
                </a:prstGeom>
                <a:solidFill>
                  <a:srgbClr val="FF0000"/>
                </a:solidFill>
              </p:spPr>
              <p:txBody>
                <a:bodyPr wrap="square" lIns="457200" tIns="91440" rIns="457200" bIns="91440" rtlCol="0">
                  <a:spAutoFit/>
                </a:bodyPr>
                <a:lstStyle/>
                <a:p>
                  <a:pPr algn="ctr"/>
                  <a:r>
                    <a:rPr lang="en-US" sz="1400" b="1" dirty="0">
                      <a:solidFill>
                        <a:schemeClr val="bg1"/>
                      </a:solidFill>
                    </a:rPr>
                    <a:t>DISTORTED</a:t>
                  </a:r>
                  <a:endParaRPr lang="en-US" sz="700" b="1" dirty="0">
                    <a:solidFill>
                      <a:schemeClr val="bg1"/>
                    </a:solidFill>
                  </a:endParaRPr>
                </a:p>
              </p:txBody>
            </p:sp>
          </p:grpSp>
          <p:pic>
            <p:nvPicPr>
              <p:cNvPr id="66" name="Picture 65"/>
              <p:cNvPicPr>
                <a:picLocks noChangeAspect="1"/>
              </p:cNvPicPr>
              <p:nvPr userDrawn="1"/>
            </p:nvPicPr>
            <p:blipFill>
              <a:blip r:embed="rId13"/>
              <a:stretch>
                <a:fillRect/>
              </a:stretch>
            </p:blipFill>
            <p:spPr>
              <a:xfrm>
                <a:off x="-4470427" y="11016658"/>
                <a:ext cx="1098742" cy="847761"/>
              </a:xfrm>
              <a:prstGeom prst="rect">
                <a:avLst/>
              </a:prstGeom>
            </p:spPr>
          </p:pic>
          <p:sp>
            <p:nvSpPr>
              <p:cNvPr id="67" name="TextBox 66"/>
              <p:cNvSpPr txBox="1"/>
              <p:nvPr userDrawn="1"/>
            </p:nvSpPr>
            <p:spPr>
              <a:xfrm>
                <a:off x="-4440600" y="11665645"/>
                <a:ext cx="1035685" cy="325233"/>
              </a:xfrm>
              <a:prstGeom prst="rect">
                <a:avLst/>
              </a:prstGeom>
              <a:noFill/>
            </p:spPr>
            <p:txBody>
              <a:bodyPr wrap="square" lIns="457200" tIns="457200" rIns="457200" bIns="0" rtlCol="0">
                <a:spAutoFit/>
              </a:bodyPr>
              <a:lstStyle/>
              <a:p>
                <a:pPr algn="ctr"/>
                <a:r>
                  <a:rPr lang="en-US" sz="1600" dirty="0">
                    <a:solidFill>
                      <a:schemeClr val="bg1"/>
                    </a:solidFill>
                  </a:rPr>
                  <a:t>Corner</a:t>
                </a:r>
                <a:r>
                  <a:rPr lang="en-US" sz="1600" baseline="0" dirty="0">
                    <a:solidFill>
                      <a:schemeClr val="bg1"/>
                    </a:solidFill>
                  </a:rPr>
                  <a:t> handles</a:t>
                </a:r>
                <a:endParaRPr lang="en-US" sz="1600" dirty="0">
                  <a:solidFill>
                    <a:schemeClr val="bg1"/>
                  </a:solidFill>
                </a:endParaRPr>
              </a:p>
            </p:txBody>
          </p:sp>
        </p:grpSp>
        <p:grpSp>
          <p:nvGrpSpPr>
            <p:cNvPr id="59" name="Group 58"/>
            <p:cNvGrpSpPr/>
            <p:nvPr userDrawn="1"/>
          </p:nvGrpSpPr>
          <p:grpSpPr>
            <a:xfrm>
              <a:off x="-10398793" y="27751410"/>
              <a:ext cx="9323012" cy="2453251"/>
              <a:chOff x="-4754996" y="12734136"/>
              <a:chExt cx="4296559" cy="1127128"/>
            </a:xfrm>
          </p:grpSpPr>
          <p:graphicFrame>
            <p:nvGraphicFramePr>
              <p:cNvPr id="60" name="Object 59"/>
              <p:cNvGraphicFramePr>
                <a:graphicFrameLocks noChangeAspect="1"/>
              </p:cNvGraphicFramePr>
              <p:nvPr userDrawn="1">
                <p:extLst>
                  <p:ext uri="{D42A27DB-BD31-4B8C-83A1-F6EECF244321}">
                    <p14:modId xmlns:p14="http://schemas.microsoft.com/office/powerpoint/2010/main" val="1199812768"/>
                  </p:ext>
                </p:extLst>
              </p:nvPr>
            </p:nvGraphicFramePr>
            <p:xfrm>
              <a:off x="-4533347" y="12734142"/>
              <a:ext cx="1828800" cy="1117600"/>
            </p:xfrm>
            <a:graphic>
              <a:graphicData uri="http://schemas.openxmlformats.org/presentationml/2006/ole">
                <mc:AlternateContent xmlns:mc="http://schemas.openxmlformats.org/markup-compatibility/2006">
                  <mc:Choice xmlns:v="urn:schemas-microsoft-com:vml" Requires="v">
                    <p:oleObj name="Image" r:id="rId14" imgW="1828440" imgH="1117440" progId="Photoshop.Image.13">
                      <p:embed/>
                    </p:oleObj>
                  </mc:Choice>
                  <mc:Fallback>
                    <p:oleObj name="Image" r:id="rId14" imgW="1828440" imgH="1117440" progId="Photoshop.Image.13">
                      <p:embed/>
                      <p:pic>
                        <p:nvPicPr>
                          <p:cNvPr id="0" name=""/>
                          <p:cNvPicPr/>
                          <p:nvPr/>
                        </p:nvPicPr>
                        <p:blipFill>
                          <a:blip r:embed="rId15"/>
                          <a:stretch>
                            <a:fillRect/>
                          </a:stretch>
                        </p:blipFill>
                        <p:spPr>
                          <a:xfrm>
                            <a:off x="-4533347" y="12734142"/>
                            <a:ext cx="1828800" cy="1117600"/>
                          </a:xfrm>
                          <a:prstGeom prst="rect">
                            <a:avLst/>
                          </a:prstGeom>
                        </p:spPr>
                      </p:pic>
                    </p:oleObj>
                  </mc:Fallback>
                </mc:AlternateContent>
              </a:graphicData>
            </a:graphic>
          </p:graphicFrame>
          <p:graphicFrame>
            <p:nvGraphicFramePr>
              <p:cNvPr id="61" name="Object 60"/>
              <p:cNvGraphicFramePr>
                <a:graphicFrameLocks noChangeAspect="1"/>
              </p:cNvGraphicFramePr>
              <p:nvPr userDrawn="1">
                <p:extLst>
                  <p:ext uri="{D42A27DB-BD31-4B8C-83A1-F6EECF244321}">
                    <p14:modId xmlns:p14="http://schemas.microsoft.com/office/powerpoint/2010/main" val="4096349677"/>
                  </p:ext>
                </p:extLst>
              </p:nvPr>
            </p:nvGraphicFramePr>
            <p:xfrm>
              <a:off x="-2456641" y="12737835"/>
              <a:ext cx="1828800" cy="1117600"/>
            </p:xfrm>
            <a:graphic>
              <a:graphicData uri="http://schemas.openxmlformats.org/presentationml/2006/ole">
                <mc:AlternateContent xmlns:mc="http://schemas.openxmlformats.org/markup-compatibility/2006">
                  <mc:Choice xmlns:v="urn:schemas-microsoft-com:vml" Requires="v">
                    <p:oleObj name="Image" r:id="rId16" imgW="1828440" imgH="1117440" progId="Photoshop.Image.13">
                      <p:embed/>
                    </p:oleObj>
                  </mc:Choice>
                  <mc:Fallback>
                    <p:oleObj name="Image" r:id="rId16" imgW="1828440" imgH="1117440" progId="Photoshop.Image.13">
                      <p:embed/>
                      <p:pic>
                        <p:nvPicPr>
                          <p:cNvPr id="0" name=""/>
                          <p:cNvPicPr/>
                          <p:nvPr/>
                        </p:nvPicPr>
                        <p:blipFill>
                          <a:blip r:embed="rId17"/>
                          <a:stretch>
                            <a:fillRect/>
                          </a:stretch>
                        </p:blipFill>
                        <p:spPr>
                          <a:xfrm>
                            <a:off x="-2456641" y="12737835"/>
                            <a:ext cx="1828800" cy="1117600"/>
                          </a:xfrm>
                          <a:prstGeom prst="rect">
                            <a:avLst/>
                          </a:prstGeom>
                        </p:spPr>
                      </p:pic>
                    </p:oleObj>
                  </mc:Fallback>
                </mc:AlternateContent>
              </a:graphicData>
            </a:graphic>
          </p:graphicFrame>
          <p:sp>
            <p:nvSpPr>
              <p:cNvPr id="62" name="TextBox 61"/>
              <p:cNvSpPr txBox="1"/>
              <p:nvPr userDrawn="1"/>
            </p:nvSpPr>
            <p:spPr>
              <a:xfrm rot="16200000">
                <a:off x="-5235785" y="13214925"/>
                <a:ext cx="1117601" cy="156024"/>
              </a:xfrm>
              <a:prstGeom prst="rect">
                <a:avLst/>
              </a:prstGeom>
              <a:noFill/>
            </p:spPr>
            <p:txBody>
              <a:bodyPr wrap="square" lIns="91440" tIns="91440" rIns="91440" bIns="0" rtlCol="0">
                <a:spAutoFit/>
              </a:bodyPr>
              <a:lstStyle/>
              <a:p>
                <a:pPr algn="ctr"/>
                <a:r>
                  <a:rPr lang="en-US" sz="1600" dirty="0">
                    <a:solidFill>
                      <a:srgbClr val="92D050"/>
                    </a:solidFill>
                  </a:rPr>
                  <a:t>Good</a:t>
                </a:r>
                <a:r>
                  <a:rPr lang="en-US" sz="1600" baseline="0" dirty="0">
                    <a:solidFill>
                      <a:srgbClr val="92D050"/>
                    </a:solidFill>
                  </a:rPr>
                  <a:t> </a:t>
                </a:r>
                <a:r>
                  <a:rPr lang="en-US" sz="1600" baseline="0" dirty="0">
                    <a:solidFill>
                      <a:schemeClr val="bg1"/>
                    </a:solidFill>
                  </a:rPr>
                  <a:t>printing quality</a:t>
                </a:r>
                <a:endParaRPr lang="en-US" sz="1600" dirty="0">
                  <a:solidFill>
                    <a:schemeClr val="bg1"/>
                  </a:solidFill>
                </a:endParaRPr>
              </a:p>
            </p:txBody>
          </p:sp>
          <p:sp>
            <p:nvSpPr>
              <p:cNvPr id="63" name="TextBox 62"/>
              <p:cNvSpPr txBox="1"/>
              <p:nvPr userDrawn="1"/>
            </p:nvSpPr>
            <p:spPr>
              <a:xfrm rot="16200000">
                <a:off x="-1095250" y="13224452"/>
                <a:ext cx="1117601" cy="156024"/>
              </a:xfrm>
              <a:prstGeom prst="rect">
                <a:avLst/>
              </a:prstGeom>
              <a:noFill/>
            </p:spPr>
            <p:txBody>
              <a:bodyPr wrap="square" lIns="91440" tIns="91440" rIns="91440" bIns="0" rtlCol="0">
                <a:spAutoFit/>
              </a:bodyPr>
              <a:lstStyle/>
              <a:p>
                <a:pPr algn="ctr"/>
                <a:r>
                  <a:rPr lang="en-US" sz="1600" dirty="0">
                    <a:solidFill>
                      <a:srgbClr val="FF0000"/>
                    </a:solidFill>
                  </a:rPr>
                  <a:t>Bad </a:t>
                </a:r>
                <a:r>
                  <a:rPr lang="en-US" sz="1600" dirty="0">
                    <a:solidFill>
                      <a:schemeClr val="bg1"/>
                    </a:solidFill>
                  </a:rPr>
                  <a:t>printing quality</a:t>
                </a:r>
              </a:p>
            </p:txBody>
          </p:sp>
        </p:grpSp>
      </p:grpSp>
      <p:sp>
        <p:nvSpPr>
          <p:cNvPr id="38" name="Text Box 14"/>
          <p:cNvSpPr txBox="1">
            <a:spLocks noChangeArrowheads="1"/>
          </p:cNvSpPr>
          <p:nvPr userDrawn="1"/>
        </p:nvSpPr>
        <p:spPr bwMode="auto">
          <a:xfrm>
            <a:off x="1567305" y="32315729"/>
            <a:ext cx="2514600" cy="336819"/>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2015</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png"/><Relationship Id="rId22" Type="http://schemas.openxmlformats.org/officeDocument/2006/relationships/image" Target="../media/image30.png"/><Relationship Id="rId23" Type="http://schemas.openxmlformats.org/officeDocument/2006/relationships/image" Target="../media/image31.png"/><Relationship Id="rId2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p:cNvSpPr>
            <a:spLocks noGrp="1"/>
          </p:cNvSpPr>
          <p:nvPr>
            <p:ph type="body" sz="quarter" idx="150"/>
          </p:nvPr>
        </p:nvSpPr>
        <p:spPr/>
        <p:txBody>
          <a:bodyPr>
            <a:normAutofit/>
          </a:bodyPr>
          <a:lstStyle/>
          <a:p>
            <a:r>
              <a:rPr lang="en-US" sz="3000" b="1" dirty="0">
                <a:latin typeface="Arial" panose="020B0604020202020204" pitchFamily="34" charset="0"/>
                <a:cs typeface="Arial" panose="020B0604020202020204" pitchFamily="34" charset="0"/>
              </a:rPr>
              <a:t>Tsolmon Jargalsaikhan  |  Student No. 2024520  |  CCT College Dublin – BSc (Hons) Computing in IT  |  DDT CA1  |  github.com/Tamara520/chainclaim-insurance-dapp</a:t>
            </a:r>
          </a:p>
        </p:txBody>
      </p:sp>
      <p:sp>
        <p:nvSpPr>
          <p:cNvPr id="18" name="Text Placeholder 17"/>
          <p:cNvSpPr>
            <a:spLocks noGrp="1"/>
          </p:cNvSpPr>
          <p:nvPr>
            <p:ph type="body" sz="quarter" idx="153"/>
          </p:nvPr>
        </p:nvSpPr>
        <p:spPr>
          <a:xfrm>
            <a:off x="509578" y="817503"/>
            <a:ext cx="42901013" cy="2277387"/>
          </a:xfrm>
        </p:spPr>
        <p:txBody>
          <a:bodyPr>
            <a:normAutofit fontScale="55000" lnSpcReduction="20000"/>
          </a:bodyPr>
          <a:lstStyle/>
          <a:p>
            <a:r>
              <a:rPr lang="en-US" b="1" cap="small" dirty="0">
                <a:latin typeface="Arial" panose="020B0604020202020204" pitchFamily="34" charset="0"/>
                <a:cs typeface="Arial" panose="020B0604020202020204" pitchFamily="34" charset="0"/>
              </a:rPr>
              <a:t>ChainClaim: A Blockchain-Based Insurance Claims Settlement DApp</a:t>
            </a:r>
          </a:p>
          <a:p>
            <a:r>
              <a:rPr lang="en-US" b="1" cap="small" dirty="0">
                <a:latin typeface="Arial" panose="020B0604020202020204" pitchFamily="34" charset="0"/>
                <a:cs typeface="Arial" panose="020B0604020202020204" pitchFamily="34" charset="0"/>
              </a:rPr>
              <a:t>Solidity Smart Contract with ECDSA (EIP-712) Signatures on Ethereum</a:t>
            </a:r>
            <a:endParaRPr lang="en-IE" b="1" cap="small" dirty="0">
              <a:latin typeface="Arial" panose="020B0604020202020204" pitchFamily="34" charset="0"/>
              <a:cs typeface="Arial" panose="020B0604020202020204" pitchFamily="34" charset="0"/>
            </a:endParaRPr>
          </a:p>
        </p:txBody>
      </p:sp>
      <p:sp>
        <p:nvSpPr>
          <p:cNvPr id="19" name="TextBox 18"/>
          <p:cNvSpPr txBox="1"/>
          <p:nvPr/>
        </p:nvSpPr>
        <p:spPr>
          <a:xfrm>
            <a:off x="770432" y="5731177"/>
            <a:ext cx="9473184" cy="365760"/>
          </a:xfrm>
          <a:prstGeom prst="rect">
            <a:avLst/>
          </a:prstGeom>
          <a:noFill/>
        </p:spPr>
        <p:txBody>
          <a:bodyPr wrap="square" lIns="0" rIns="0" tIns="0" bIns="0"/>
          <a:lstStyle/>
          <a:p>
            <a:pPr algn="ctr"/>
            <a:r>
              <a:rPr sz="1900" i="0" b="1">
                <a:solidFill>
                  <a:srgbClr val="0F7C7E"/>
                </a:solidFill>
                <a:latin typeface="Arial"/>
              </a:rPr>
              <a:t>CRITERION 1 · BLOCKCHAIN SOLUTION PROPOSAL</a:t>
            </a:r>
          </a:p>
        </p:txBody>
      </p:sp>
      <p:sp>
        <p:nvSpPr>
          <p:cNvPr id="20" name="TextBox 19"/>
          <p:cNvSpPr txBox="1"/>
          <p:nvPr/>
        </p:nvSpPr>
        <p:spPr>
          <a:xfrm>
            <a:off x="770432" y="6115225"/>
            <a:ext cx="9473184" cy="640080"/>
          </a:xfrm>
          <a:prstGeom prst="rect">
            <a:avLst/>
          </a:prstGeom>
          <a:noFill/>
        </p:spPr>
        <p:txBody>
          <a:bodyPr wrap="square" lIns="0" rIns="0" tIns="0" bIns="0"/>
          <a:lstStyle/>
          <a:p>
            <a:pPr algn="ctr"/>
            <a:r>
              <a:rPr sz="3600" i="0" b="1">
                <a:solidFill>
                  <a:srgbClr val="1F3A68"/>
                </a:solidFill>
                <a:latin typeface="Arial"/>
              </a:rPr>
              <a:t>INTRODUCTION</a:t>
            </a:r>
          </a:p>
        </p:txBody>
      </p:sp>
      <p:sp>
        <p:nvSpPr>
          <p:cNvPr id="21" name="TextBox 20"/>
          <p:cNvSpPr txBox="1"/>
          <p:nvPr/>
        </p:nvSpPr>
        <p:spPr>
          <a:xfrm>
            <a:off x="770432" y="6865033"/>
            <a:ext cx="9473184" cy="2637528"/>
          </a:xfrm>
          <a:prstGeom prst="rect">
            <a:avLst/>
          </a:prstGeom>
          <a:noFill/>
        </p:spPr>
        <p:txBody>
          <a:bodyPr wrap="square" lIns="0" rIns="0" tIns="0" bIns="0"/>
          <a:lstStyle/>
          <a:p>
            <a:pPr>
              <a:lnSpc>
                <a:spcPct val="108000"/>
              </a:lnSpc>
            </a:pPr>
            <a:r>
              <a:rPr sz="2200" i="0" b="0">
                <a:solidFill>
                  <a:srgbClr val="1F2937"/>
                </a:solidFill>
                <a:latin typeface="Arial"/>
              </a:rPr>
              <a:t>Insurance claims are still slow, paper-based and dependent on trusting one party. Customers wait weeks and fraud is costly: Irish insurers detected </a:t>
            </a:r>
            <a:r>
              <a:rPr sz="2200" i="0" b="1">
                <a:solidFill>
                  <a:srgbClr val="1F2937"/>
                </a:solidFill>
                <a:latin typeface="Arial"/>
              </a:rPr>
              <a:t>€76m of fraudulent claims, with about €200m more undetected</a:t>
            </a:r>
            <a:r>
              <a:rPr sz="2200" i="0" b="0">
                <a:solidFill>
                  <a:srgbClr val="1F2937"/>
                </a:solidFill>
                <a:latin typeface="Arial"/>
              </a:rPr>
              <a:t> (Insurance Europe, 2019, p. 8). </a:t>
            </a:r>
            <a:r>
              <a:rPr sz="2200" i="0" b="1">
                <a:solidFill>
                  <a:srgbClr val="1F2937"/>
                </a:solidFill>
                <a:latin typeface="Arial"/>
              </a:rPr>
              <a:t>ChainClaim</a:t>
            </a:r>
            <a:r>
              <a:rPr sz="2200" i="0" b="0">
                <a:solidFill>
                  <a:srgbClr val="1F2937"/>
                </a:solidFill>
                <a:latin typeface="Arial"/>
              </a:rPr>
              <a:t> moves the claim lifecycle onto a smart contract between the </a:t>
            </a:r>
            <a:r>
              <a:rPr sz="2200" i="0" b="1">
                <a:solidFill>
                  <a:srgbClr val="1F2937"/>
                </a:solidFill>
                <a:latin typeface="Arial"/>
              </a:rPr>
              <a:t>policyholder (sender)</a:t>
            </a:r>
            <a:r>
              <a:rPr sz="2200" i="0" b="0">
                <a:solidFill>
                  <a:srgbClr val="1F2937"/>
                </a:solidFill>
                <a:latin typeface="Arial"/>
              </a:rPr>
              <a:t> and the </a:t>
            </a:r>
            <a:r>
              <a:rPr sz="2200" i="0" b="1">
                <a:solidFill>
                  <a:srgbClr val="1F2937"/>
                </a:solidFill>
                <a:latin typeface="Arial"/>
              </a:rPr>
              <a:t>insurer (receiver)</a:t>
            </a:r>
            <a:r>
              <a:rPr sz="2200" i="0" b="0">
                <a:solidFill>
                  <a:srgbClr val="1F2937"/>
                </a:solidFill>
                <a:latin typeface="Arial"/>
              </a:rPr>
              <a:t>, so neither side can alter the record and only a publicly logged pause can hold up an approved payout.</a:t>
            </a:r>
          </a:p>
        </p:txBody>
      </p:sp>
      <p:sp>
        <p:nvSpPr>
          <p:cNvPr id="22" name="TextBox 21"/>
          <p:cNvSpPr txBox="1"/>
          <p:nvPr/>
        </p:nvSpPr>
        <p:spPr>
          <a:xfrm>
            <a:off x="770432" y="9886609"/>
            <a:ext cx="9473184" cy="640080"/>
          </a:xfrm>
          <a:prstGeom prst="rect">
            <a:avLst/>
          </a:prstGeom>
          <a:noFill/>
        </p:spPr>
        <p:txBody>
          <a:bodyPr wrap="square" lIns="0" rIns="0" tIns="0" bIns="0"/>
          <a:lstStyle/>
          <a:p>
            <a:pPr algn="ctr"/>
            <a:r>
              <a:rPr sz="3600" i="0" b="1">
                <a:solidFill>
                  <a:srgbClr val="1F3A68"/>
                </a:solidFill>
                <a:latin typeface="Arial"/>
              </a:rPr>
              <a:t>SOLUTION &amp; BUSINESS MODEL</a:t>
            </a:r>
          </a:p>
        </p:txBody>
      </p:sp>
      <p:pic>
        <p:nvPicPr>
          <p:cNvPr id="23" name="Picture 22" descr="d1_architecture.png"/>
          <p:cNvPicPr>
            <a:picLocks noChangeAspect="1"/>
          </p:cNvPicPr>
          <p:nvPr/>
        </p:nvPicPr>
        <p:blipFill>
          <a:blip r:embed="rId9"/>
          <a:stretch>
            <a:fillRect/>
          </a:stretch>
        </p:blipFill>
        <p:spPr>
          <a:xfrm>
            <a:off x="770432" y="10636417"/>
            <a:ext cx="9473184" cy="5861532"/>
          </a:xfrm>
          <a:prstGeom prst="rect">
            <a:avLst/>
          </a:prstGeom>
        </p:spPr>
      </p:pic>
      <p:sp>
        <p:nvSpPr>
          <p:cNvPr id="24" name="TextBox 23"/>
          <p:cNvSpPr txBox="1"/>
          <p:nvPr/>
        </p:nvSpPr>
        <p:spPr>
          <a:xfrm>
            <a:off x="770432" y="16552813"/>
            <a:ext cx="9473184" cy="329184"/>
          </a:xfrm>
          <a:prstGeom prst="rect">
            <a:avLst/>
          </a:prstGeom>
          <a:noFill/>
        </p:spPr>
        <p:txBody>
          <a:bodyPr wrap="square" lIns="0" rIns="0" tIns="0" bIns="0"/>
          <a:lstStyle/>
          <a:p>
            <a:pPr algn="ctr"/>
            <a:r>
              <a:rPr sz="1700" i="1" b="0">
                <a:solidFill>
                  <a:srgbClr val="4B5563"/>
                </a:solidFill>
                <a:latin typeface="Arial"/>
              </a:rPr>
              <a:t>Figure 1 – ChainClaim architecture: blockchain as the middle layer</a:t>
            </a:r>
          </a:p>
        </p:txBody>
      </p:sp>
      <p:sp>
        <p:nvSpPr>
          <p:cNvPr id="25" name="TextBox 24"/>
          <p:cNvSpPr txBox="1"/>
          <p:nvPr/>
        </p:nvSpPr>
        <p:spPr>
          <a:xfrm>
            <a:off x="770432" y="17028301"/>
            <a:ext cx="9473184" cy="989073"/>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Proposed consortium:</a:t>
            </a:r>
            <a:r>
              <a:rPr sz="2200" i="0" b="0">
                <a:solidFill>
                  <a:srgbClr val="1F2937"/>
                </a:solidFill>
                <a:latin typeface="Arial"/>
              </a:rPr>
              <a:t> Irish insurers, assessors and the regulator operate a permissioned Ethereum Layer-2.</a:t>
            </a:r>
          </a:p>
        </p:txBody>
      </p:sp>
      <p:sp>
        <p:nvSpPr>
          <p:cNvPr id="26" name="TextBox 25"/>
          <p:cNvSpPr txBox="1"/>
          <p:nvPr/>
        </p:nvSpPr>
        <p:spPr>
          <a:xfrm>
            <a:off x="770432" y="18108814"/>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Revenue:</a:t>
            </a:r>
            <a:r>
              <a:rPr sz="2200" i="0" b="0">
                <a:solidFill>
                  <a:srgbClr val="1F2937"/>
                </a:solidFill>
                <a:latin typeface="Arial"/>
              </a:rPr>
              <a:t> insurers pay a per-policy fee; assessors earn per signed assessment.</a:t>
            </a:r>
          </a:p>
        </p:txBody>
      </p:sp>
      <p:sp>
        <p:nvSpPr>
          <p:cNvPr id="27" name="TextBox 26"/>
          <p:cNvSpPr txBox="1"/>
          <p:nvPr/>
        </p:nvSpPr>
        <p:spPr>
          <a:xfrm>
            <a:off x="770432" y="1885963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Customer value:</a:t>
            </a:r>
            <a:r>
              <a:rPr sz="2200" i="0" b="0">
                <a:solidFill>
                  <a:srgbClr val="1F2937"/>
                </a:solidFill>
                <a:latin typeface="Arial"/>
              </a:rPr>
              <a:t> live claim status and fast payout.</a:t>
            </a:r>
          </a:p>
        </p:txBody>
      </p:sp>
      <p:sp>
        <p:nvSpPr>
          <p:cNvPr id="28" name="TextBox 27"/>
          <p:cNvSpPr txBox="1"/>
          <p:nvPr/>
        </p:nvSpPr>
        <p:spPr>
          <a:xfrm>
            <a:off x="770432" y="1961045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Shared fraud registry:</a:t>
            </a:r>
            <a:r>
              <a:rPr sz="2200" i="0" b="0">
                <a:solidFill>
                  <a:srgbClr val="1F2937"/>
                </a:solidFill>
                <a:latin typeface="Arial"/>
              </a:rPr>
              <a:t> insurers compare evidence hashes, never personal data.</a:t>
            </a:r>
          </a:p>
        </p:txBody>
      </p:sp>
      <p:pic>
        <p:nvPicPr>
          <p:cNvPr id="29" name="Picture 28" descr="d8_usecase.png"/>
          <p:cNvPicPr>
            <a:picLocks noChangeAspect="1"/>
          </p:cNvPicPr>
          <p:nvPr/>
        </p:nvPicPr>
        <p:blipFill>
          <a:blip r:embed="rId10"/>
          <a:stretch>
            <a:fillRect/>
          </a:stretch>
        </p:blipFill>
        <p:spPr>
          <a:xfrm>
            <a:off x="770432" y="20361280"/>
            <a:ext cx="9473184" cy="3789273"/>
          </a:xfrm>
          <a:prstGeom prst="rect">
            <a:avLst/>
          </a:prstGeom>
        </p:spPr>
      </p:pic>
      <p:sp>
        <p:nvSpPr>
          <p:cNvPr id="30" name="TextBox 29"/>
          <p:cNvSpPr txBox="1"/>
          <p:nvPr/>
        </p:nvSpPr>
        <p:spPr>
          <a:xfrm>
            <a:off x="770432" y="24205417"/>
            <a:ext cx="9473184" cy="329184"/>
          </a:xfrm>
          <a:prstGeom prst="rect">
            <a:avLst/>
          </a:prstGeom>
          <a:noFill/>
        </p:spPr>
        <p:txBody>
          <a:bodyPr wrap="square" lIns="0" rIns="0" tIns="0" bIns="0"/>
          <a:lstStyle/>
          <a:p>
            <a:pPr algn="ctr"/>
            <a:r>
              <a:rPr sz="1700" i="1" b="0">
                <a:solidFill>
                  <a:srgbClr val="4B5563"/>
                </a:solidFill>
                <a:latin typeface="Arial"/>
              </a:rPr>
              <a:t>Figure 2 – UML use-case diagram</a:t>
            </a:r>
          </a:p>
        </p:txBody>
      </p:sp>
      <p:sp>
        <p:nvSpPr>
          <p:cNvPr id="31" name="TextBox 30"/>
          <p:cNvSpPr txBox="1"/>
          <p:nvPr/>
        </p:nvSpPr>
        <p:spPr>
          <a:xfrm>
            <a:off x="770432" y="24918649"/>
            <a:ext cx="9473184" cy="640080"/>
          </a:xfrm>
          <a:prstGeom prst="rect">
            <a:avLst/>
          </a:prstGeom>
          <a:noFill/>
        </p:spPr>
        <p:txBody>
          <a:bodyPr wrap="square" lIns="0" rIns="0" tIns="0" bIns="0"/>
          <a:lstStyle/>
          <a:p>
            <a:pPr algn="ctr"/>
            <a:r>
              <a:rPr sz="3600" i="0" b="1">
                <a:solidFill>
                  <a:srgbClr val="1F3A68"/>
                </a:solidFill>
                <a:latin typeface="Arial"/>
              </a:rPr>
              <a:t>DISRUPTIVE IMPACT</a:t>
            </a:r>
          </a:p>
        </p:txBody>
      </p:sp>
      <p:sp>
        <p:nvSpPr>
          <p:cNvPr id="32" name="TextBox 31"/>
          <p:cNvSpPr txBox="1"/>
          <p:nvPr/>
        </p:nvSpPr>
        <p:spPr>
          <a:xfrm>
            <a:off x="770432" y="25668457"/>
            <a:ext cx="9473184" cy="1800000"/>
          </a:xfrm>
          <a:prstGeom prst="rect">
            <a:avLst/>
          </a:prstGeom>
          <a:noFill/>
        </p:spPr>
        <p:txBody>
          <a:bodyPr wrap="square" lIns="0" rIns="0" tIns="0" bIns="0"/>
          <a:lstStyle/>
          <a:p>
            <a:pPr>
              <a:lnSpc>
                <a:spcPct val="108000"/>
              </a:lnSpc>
            </a:pPr>
            <a:r>
              <a:rPr sz="2200" i="0" b="0">
                <a:solidFill>
                  <a:srgbClr val="1F2937"/>
                </a:solidFill>
                <a:latin typeface="Arial"/>
              </a:rPr>
              <a:t>Blockchain removes reconciliation between insurers, brokers and administrators and replaces discretionary delays with code. Approved claims settle in minutes instead of weeks, fraud checks move from siloed databases to a shared hash registry, and administrators shift from processing paperwork to auditing signed decisions.</a:t>
            </a:r>
          </a:p>
        </p:txBody>
      </p:sp>
      <p:pic>
        <p:nvPicPr>
          <p:cNvPr id="33" name="Picture 32" descr="d2_comparison.png"/>
          <p:cNvPicPr>
            <a:picLocks noChangeAspect="1"/>
          </p:cNvPicPr>
          <p:nvPr/>
        </p:nvPicPr>
        <p:blipFill>
          <a:blip r:embed="rId11"/>
          <a:stretch>
            <a:fillRect/>
          </a:stretch>
        </p:blipFill>
        <p:spPr>
          <a:xfrm>
            <a:off x="770432" y="27631833"/>
            <a:ext cx="9473184" cy="3789273"/>
          </a:xfrm>
          <a:prstGeom prst="rect">
            <a:avLst/>
          </a:prstGeom>
        </p:spPr>
      </p:pic>
      <p:sp>
        <p:nvSpPr>
          <p:cNvPr id="34" name="TextBox 33"/>
          <p:cNvSpPr txBox="1"/>
          <p:nvPr/>
        </p:nvSpPr>
        <p:spPr>
          <a:xfrm>
            <a:off x="770432" y="31475970"/>
            <a:ext cx="9473184" cy="329184"/>
          </a:xfrm>
          <a:prstGeom prst="rect">
            <a:avLst/>
          </a:prstGeom>
          <a:noFill/>
        </p:spPr>
        <p:txBody>
          <a:bodyPr wrap="square" lIns="0" rIns="0" tIns="0" bIns="0"/>
          <a:lstStyle/>
          <a:p>
            <a:pPr algn="ctr"/>
            <a:r>
              <a:rPr sz="1700" i="1" b="0">
                <a:solidFill>
                  <a:srgbClr val="4B5563"/>
                </a:solidFill>
                <a:latin typeface="Arial"/>
              </a:rPr>
              <a:t>Figure 3 – Traditional claims process vs ChainClaim</a:t>
            </a:r>
          </a:p>
        </p:txBody>
      </p:sp>
      <p:sp>
        <p:nvSpPr>
          <p:cNvPr id="35" name="TextBox 34"/>
          <p:cNvSpPr txBox="1"/>
          <p:nvPr/>
        </p:nvSpPr>
        <p:spPr>
          <a:xfrm>
            <a:off x="11732129" y="5731177"/>
            <a:ext cx="9473184" cy="365760"/>
          </a:xfrm>
          <a:prstGeom prst="rect">
            <a:avLst/>
          </a:prstGeom>
          <a:noFill/>
        </p:spPr>
        <p:txBody>
          <a:bodyPr wrap="square" lIns="0" rIns="0" tIns="0" bIns="0"/>
          <a:lstStyle/>
          <a:p>
            <a:pPr algn="ctr"/>
            <a:r>
              <a:rPr sz="1900" i="0" b="1">
                <a:solidFill>
                  <a:srgbClr val="0F7C7E"/>
                </a:solidFill>
                <a:latin typeface="Arial"/>
              </a:rPr>
              <a:t>CRITERION 1 · BENEFITS, CHALLENGES &amp; CRYPTOGRAPHY</a:t>
            </a:r>
          </a:p>
        </p:txBody>
      </p:sp>
      <p:sp>
        <p:nvSpPr>
          <p:cNvPr id="36" name="TextBox 35"/>
          <p:cNvSpPr txBox="1"/>
          <p:nvPr/>
        </p:nvSpPr>
        <p:spPr>
          <a:xfrm>
            <a:off x="11732129" y="6115225"/>
            <a:ext cx="9473184" cy="640080"/>
          </a:xfrm>
          <a:prstGeom prst="rect">
            <a:avLst/>
          </a:prstGeom>
          <a:noFill/>
        </p:spPr>
        <p:txBody>
          <a:bodyPr wrap="square" lIns="0" rIns="0" tIns="0" bIns="0"/>
          <a:lstStyle/>
          <a:p>
            <a:pPr algn="ctr"/>
            <a:r>
              <a:rPr sz="3600" i="0" b="1">
                <a:solidFill>
                  <a:srgbClr val="1F3A68"/>
                </a:solidFill>
                <a:latin typeface="Arial"/>
              </a:rPr>
              <a:t>RECENT ADVANCEMENTS USED</a:t>
            </a:r>
          </a:p>
        </p:txBody>
      </p:sp>
      <p:sp>
        <p:nvSpPr>
          <p:cNvPr id="37" name="TextBox 36"/>
          <p:cNvSpPr txBox="1"/>
          <p:nvPr/>
        </p:nvSpPr>
        <p:spPr>
          <a:xfrm>
            <a:off x="11732129" y="6865033"/>
            <a:ext cx="9473184" cy="989073"/>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Layer-2 rollups + EIP-4844 (Dencun, 2024):</a:t>
            </a:r>
            <a:r>
              <a:rPr sz="2200" i="0" b="0">
                <a:solidFill>
                  <a:srgbClr val="1F2937"/>
                </a:solidFill>
                <a:latin typeface="Arial"/>
              </a:rPr>
              <a:t> blob data made small claims cheap to settle (Ethereum Foundation, 2024).</a:t>
            </a:r>
          </a:p>
        </p:txBody>
      </p:sp>
      <p:sp>
        <p:nvSpPr>
          <p:cNvPr id="38" name="TextBox 37"/>
          <p:cNvSpPr txBox="1"/>
          <p:nvPr/>
        </p:nvSpPr>
        <p:spPr>
          <a:xfrm>
            <a:off x="11732129" y="794554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Account abstraction (ERC-4337, EIP-7702):</a:t>
            </a:r>
            <a:r>
              <a:rPr sz="2200" i="0" b="0">
                <a:solidFill>
                  <a:srgbClr val="1F2937"/>
                </a:solidFill>
                <a:latin typeface="Arial"/>
              </a:rPr>
              <a:t> smart wallets and insurer-paid gas (Buterin et al., 2021; 2024).</a:t>
            </a:r>
          </a:p>
        </p:txBody>
      </p:sp>
      <p:sp>
        <p:nvSpPr>
          <p:cNvPr id="39" name="TextBox 38"/>
          <p:cNvSpPr txBox="1"/>
          <p:nvPr/>
        </p:nvSpPr>
        <p:spPr>
          <a:xfrm>
            <a:off x="11732129" y="869636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EIP-712 + EIP-2 (used):</a:t>
            </a:r>
            <a:r>
              <a:rPr sz="2200" i="0" b="0">
                <a:solidFill>
                  <a:srgbClr val="1F2937"/>
                </a:solidFill>
                <a:latin typeface="Arial"/>
              </a:rPr>
              <a:t> off-chain approval, on-chain check with low-s rule (Bloemen, Logvinov and Evans, 2017).</a:t>
            </a:r>
          </a:p>
        </p:txBody>
      </p:sp>
      <p:sp>
        <p:nvSpPr>
          <p:cNvPr id="40" name="TextBox 39"/>
          <p:cNvSpPr txBox="1"/>
          <p:nvPr/>
        </p:nvSpPr>
        <p:spPr>
          <a:xfrm>
            <a:off x="11732129" y="944719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BLS precompile (EIP-2537, Pectra):</a:t>
            </a:r>
            <a:r>
              <a:rPr sz="2200" i="0" b="0">
                <a:solidFill>
                  <a:srgbClr val="1F2937"/>
                </a:solidFill>
                <a:latin typeface="Arial"/>
              </a:rPr>
              <a:t> aggregated multi-assessor signatures (Vlasov et al., 2020).</a:t>
            </a:r>
          </a:p>
        </p:txBody>
      </p:sp>
      <p:sp>
        <p:nvSpPr>
          <p:cNvPr id="41" name="TextBox 40"/>
          <p:cNvSpPr txBox="1"/>
          <p:nvPr/>
        </p:nvSpPr>
        <p:spPr>
          <a:xfrm>
            <a:off x="11732129" y="10198012"/>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Oracles &amp; ZK proofs:</a:t>
            </a:r>
            <a:r>
              <a:rPr sz="2200" i="0" b="0">
                <a:solidFill>
                  <a:srgbClr val="1F2937"/>
                </a:solidFill>
                <a:latin typeface="Arial"/>
              </a:rPr>
              <a:t> Chainlink feeds for parametric cover (Chainlink Labs, 2024); ZK proofs for private claims.</a:t>
            </a:r>
          </a:p>
        </p:txBody>
      </p:sp>
      <p:sp>
        <p:nvSpPr>
          <p:cNvPr id="42" name="TextBox 41"/>
          <p:cNvSpPr txBox="1"/>
          <p:nvPr/>
        </p:nvSpPr>
        <p:spPr>
          <a:xfrm>
            <a:off x="11732129" y="11186578"/>
            <a:ext cx="9473184" cy="640080"/>
          </a:xfrm>
          <a:prstGeom prst="rect">
            <a:avLst/>
          </a:prstGeom>
          <a:noFill/>
        </p:spPr>
        <p:txBody>
          <a:bodyPr wrap="square" lIns="0" rIns="0" tIns="0" bIns="0"/>
          <a:lstStyle/>
          <a:p>
            <a:pPr algn="ctr"/>
            <a:r>
              <a:rPr sz="3600" i="0" b="1">
                <a:solidFill>
                  <a:srgbClr val="1F3A68"/>
                </a:solidFill>
                <a:latin typeface="Arial"/>
              </a:rPr>
              <a:t>BENEFITS</a:t>
            </a:r>
          </a:p>
        </p:txBody>
      </p:sp>
      <p:sp>
        <p:nvSpPr>
          <p:cNvPr id="43" name="TextBox 42"/>
          <p:cNvSpPr txBox="1"/>
          <p:nvPr/>
        </p:nvSpPr>
        <p:spPr>
          <a:xfrm>
            <a:off x="11732129" y="1193638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Speed &amp; cost:</a:t>
            </a:r>
            <a:r>
              <a:rPr sz="2200" i="0" b="0">
                <a:solidFill>
                  <a:srgbClr val="1F2937"/>
                </a:solidFill>
                <a:latin typeface="Arial"/>
              </a:rPr>
              <a:t> approval and payout in two transactions, no reconciliation.</a:t>
            </a:r>
          </a:p>
        </p:txBody>
      </p:sp>
      <p:sp>
        <p:nvSpPr>
          <p:cNvPr id="44" name="TextBox 43"/>
          <p:cNvSpPr txBox="1"/>
          <p:nvPr/>
        </p:nvSpPr>
        <p:spPr>
          <a:xfrm>
            <a:off x="11732129" y="1268720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Fraud reduction:</a:t>
            </a:r>
            <a:r>
              <a:rPr sz="2200" i="0" b="0">
                <a:solidFill>
                  <a:srgbClr val="1F2937"/>
                </a:solidFill>
                <a:latin typeface="Arial"/>
              </a:rPr>
              <a:t> reused evidence and forged approvals are rejected by code (13 tests).</a:t>
            </a:r>
          </a:p>
        </p:txBody>
      </p:sp>
      <p:sp>
        <p:nvSpPr>
          <p:cNvPr id="45" name="TextBox 44"/>
          <p:cNvSpPr txBox="1"/>
          <p:nvPr/>
        </p:nvSpPr>
        <p:spPr>
          <a:xfrm>
            <a:off x="11732129" y="1343803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Trust &amp; audit:</a:t>
            </a:r>
            <a:r>
              <a:rPr sz="2200" i="0" b="0">
                <a:solidFill>
                  <a:srgbClr val="1F2937"/>
                </a:solidFill>
                <a:latin typeface="Arial"/>
              </a:rPr>
              <a:t> every state change is an immutable, auditable event.</a:t>
            </a:r>
          </a:p>
        </p:txBody>
      </p:sp>
      <p:sp>
        <p:nvSpPr>
          <p:cNvPr id="46" name="TextBox 45"/>
          <p:cNvSpPr txBox="1"/>
          <p:nvPr/>
        </p:nvSpPr>
        <p:spPr>
          <a:xfrm>
            <a:off x="11732129" y="14426596"/>
            <a:ext cx="9473184" cy="640080"/>
          </a:xfrm>
          <a:prstGeom prst="rect">
            <a:avLst/>
          </a:prstGeom>
          <a:noFill/>
        </p:spPr>
        <p:txBody>
          <a:bodyPr wrap="square" lIns="0" rIns="0" tIns="0" bIns="0"/>
          <a:lstStyle/>
          <a:p>
            <a:pPr algn="ctr"/>
            <a:r>
              <a:rPr sz="3600" i="0" b="1">
                <a:solidFill>
                  <a:srgbClr val="1F3A68"/>
                </a:solidFill>
                <a:latin typeface="Arial"/>
              </a:rPr>
              <a:t>CHALLENGES (CRITICAL VIEW)</a:t>
            </a:r>
          </a:p>
        </p:txBody>
      </p:sp>
      <p:sp>
        <p:nvSpPr>
          <p:cNvPr id="47" name="TextBox 46"/>
          <p:cNvSpPr txBox="1"/>
          <p:nvPr/>
        </p:nvSpPr>
        <p:spPr>
          <a:xfrm>
            <a:off x="11732129" y="15176404"/>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GDPR vs immutability:</a:t>
            </a:r>
            <a:r>
              <a:rPr sz="2200" i="0" b="0">
                <a:solidFill>
                  <a:srgbClr val="1F2937"/>
                </a:solidFill>
                <a:latin typeface="Arial"/>
              </a:rPr>
              <a:t> erasure rights clash with permanent storage; only hashes go on-chain.</a:t>
            </a:r>
          </a:p>
        </p:txBody>
      </p:sp>
      <p:sp>
        <p:nvSpPr>
          <p:cNvPr id="48" name="TextBox 47"/>
          <p:cNvSpPr txBox="1"/>
          <p:nvPr/>
        </p:nvSpPr>
        <p:spPr>
          <a:xfrm>
            <a:off x="11732129" y="1592722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Trusted assessor:</a:t>
            </a:r>
            <a:r>
              <a:rPr sz="2200" i="0" b="0">
                <a:solidFill>
                  <a:srgbClr val="1F2937"/>
                </a:solidFill>
                <a:latin typeface="Arial"/>
              </a:rPr>
              <a:t> a dishonest assessor can still sign; mitigated by rotation and multi-signature panels.</a:t>
            </a:r>
          </a:p>
        </p:txBody>
      </p:sp>
      <p:sp>
        <p:nvSpPr>
          <p:cNvPr id="49" name="TextBox 48"/>
          <p:cNvSpPr txBox="1"/>
          <p:nvPr/>
        </p:nvSpPr>
        <p:spPr>
          <a:xfrm>
            <a:off x="11732129" y="1667804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Irreversible bugs:</a:t>
            </a:r>
            <a:r>
              <a:rPr sz="2200" i="0" b="0">
                <a:solidFill>
                  <a:srgbClr val="1F2937"/>
                </a:solidFill>
                <a:latin typeface="Arial"/>
              </a:rPr>
              <a:t> costly (Siegel, 2016); mitigated by tests and a circuit breaker.</a:t>
            </a:r>
          </a:p>
        </p:txBody>
      </p:sp>
      <p:sp>
        <p:nvSpPr>
          <p:cNvPr id="50" name="TextBox 49"/>
          <p:cNvSpPr txBox="1"/>
          <p:nvPr/>
        </p:nvSpPr>
        <p:spPr>
          <a:xfrm>
            <a:off x="11732129" y="1742887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Regulation:</a:t>
            </a:r>
            <a:r>
              <a:rPr sz="2200" i="0" b="0">
                <a:solidFill>
                  <a:srgbClr val="1F2937"/>
                </a:solidFill>
                <a:latin typeface="Arial"/>
              </a:rPr>
              <a:t> Central Bank of Ireland oversight and MiCA rules for euro stablecoins (European Union, 2023).</a:t>
            </a:r>
          </a:p>
        </p:txBody>
      </p:sp>
      <p:sp>
        <p:nvSpPr>
          <p:cNvPr id="51" name="TextBox 50"/>
          <p:cNvSpPr txBox="1"/>
          <p:nvPr/>
        </p:nvSpPr>
        <p:spPr>
          <a:xfrm>
            <a:off x="11732129" y="18179692"/>
            <a:ext cx="9473184" cy="659382"/>
          </a:xfrm>
          <a:prstGeom prst="rect">
            <a:avLst/>
          </a:prstGeom>
          <a:noFill/>
        </p:spPr>
        <p:txBody>
          <a:bodyPr wrap="square" lIns="0" rIns="0" tIns="0" bIns="0"/>
          <a:lstStyle/>
          <a:p>
            <a:pPr>
              <a:lnSpc>
                <a:spcPct val="108000"/>
              </a:lnSpc>
            </a:pPr>
            <a:r>
              <a:rPr sz="2200" i="0" b="1">
                <a:solidFill>
                  <a:srgbClr val="1F2937"/>
                </a:solidFill>
                <a:latin typeface="Arial"/>
              </a:rPr>
              <a:t>Verdict:</a:t>
            </a:r>
            <a:r>
              <a:rPr sz="2200" i="0" b="0">
                <a:solidFill>
                  <a:srgbClr val="1F2937"/>
                </a:solidFill>
                <a:latin typeface="Arial"/>
              </a:rPr>
              <a:t> blockchain fits best when distrusting parties share claims; a single insurer could use a database.</a:t>
            </a:r>
          </a:p>
        </p:txBody>
      </p:sp>
      <p:sp>
        <p:nvSpPr>
          <p:cNvPr id="52" name="TextBox 51"/>
          <p:cNvSpPr txBox="1"/>
          <p:nvPr/>
        </p:nvSpPr>
        <p:spPr>
          <a:xfrm>
            <a:off x="11732129" y="19223122"/>
            <a:ext cx="9473184" cy="640080"/>
          </a:xfrm>
          <a:prstGeom prst="rect">
            <a:avLst/>
          </a:prstGeom>
          <a:noFill/>
        </p:spPr>
        <p:txBody>
          <a:bodyPr wrap="square" lIns="0" rIns="0" tIns="0" bIns="0"/>
          <a:lstStyle/>
          <a:p>
            <a:pPr algn="ctr"/>
            <a:r>
              <a:rPr sz="3600" i="0" b="1">
                <a:solidFill>
                  <a:srgbClr val="1F3A68"/>
                </a:solidFill>
                <a:latin typeface="Arial"/>
              </a:rPr>
              <a:t>CRYPTOGRAPHIC SECURITY</a:t>
            </a:r>
          </a:p>
        </p:txBody>
      </p:sp>
      <p:sp>
        <p:nvSpPr>
          <p:cNvPr id="53" name="TextBox 52"/>
          <p:cNvSpPr txBox="1"/>
          <p:nvPr/>
        </p:nvSpPr>
        <p:spPr>
          <a:xfrm>
            <a:off x="11732129" y="19972930"/>
            <a:ext cx="9473184" cy="659382"/>
          </a:xfrm>
          <a:prstGeom prst="rect">
            <a:avLst/>
          </a:prstGeom>
          <a:noFill/>
        </p:spPr>
        <p:txBody>
          <a:bodyPr wrap="square" lIns="0" rIns="0" tIns="0" bIns="0"/>
          <a:lstStyle/>
          <a:p>
            <a:pPr>
              <a:lnSpc>
                <a:spcPct val="108000"/>
              </a:lnSpc>
            </a:pPr>
            <a:r>
              <a:rPr sz="2200" i="0" b="1">
                <a:solidFill>
                  <a:srgbClr val="1F2937"/>
                </a:solidFill>
                <a:latin typeface="Arial"/>
              </a:rPr>
              <a:t>Selected: ECDSA (secp256k1) signatures with EIP-712 typed data, plus Keccak-256 hashing.</a:t>
            </a:r>
          </a:p>
        </p:txBody>
      </p:sp>
      <p:sp>
        <p:nvSpPr>
          <p:cNvPr id="54" name="TextBox 53"/>
          <p:cNvSpPr txBox="1"/>
          <p:nvPr/>
        </p:nvSpPr>
        <p:spPr>
          <a:xfrm>
            <a:off x="11732129" y="20778616"/>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Native &amp; cheap:</a:t>
            </a:r>
            <a:r>
              <a:rPr sz="2200" i="0" b="0">
                <a:solidFill>
                  <a:srgbClr val="1F2937"/>
                </a:solidFill>
                <a:latin typeface="Arial"/>
              </a:rPr>
              <a:t> ecrecover verifies a signature for 3,000 gas (Wood, 2014).</a:t>
            </a:r>
          </a:p>
        </p:txBody>
      </p:sp>
      <p:sp>
        <p:nvSpPr>
          <p:cNvPr id="55" name="TextBox 54"/>
          <p:cNvSpPr txBox="1"/>
          <p:nvPr/>
        </p:nvSpPr>
        <p:spPr>
          <a:xfrm>
            <a:off x="11732129" y="21529438"/>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Efficient:</a:t>
            </a:r>
            <a:r>
              <a:rPr sz="2200" i="0" b="0">
                <a:solidFill>
                  <a:srgbClr val="1F2937"/>
                </a:solidFill>
                <a:latin typeface="Arial"/>
              </a:rPr>
              <a:t> 256-bit ECC equals 3072-bit RSA with smaller keys (Barker, 2020).</a:t>
            </a:r>
          </a:p>
        </p:txBody>
      </p:sp>
      <p:sp>
        <p:nvSpPr>
          <p:cNvPr id="56" name="TextBox 55"/>
          <p:cNvSpPr txBox="1"/>
          <p:nvPr/>
        </p:nvSpPr>
        <p:spPr>
          <a:xfrm>
            <a:off x="11732129" y="22280260"/>
            <a:ext cx="9473184" cy="659382"/>
          </a:xfrm>
          <a:prstGeom prst="rect">
            <a:avLst/>
          </a:prstGeom>
          <a:noFill/>
        </p:spPr>
        <p:txBody>
          <a:bodyPr wrap="square" lIns="0" rIns="0" tIns="0" bIns="0"/>
          <a:lstStyle/>
          <a:p>
            <a:pPr marL="274320" indent="-274320">
              <a:lnSpc>
                <a:spcPct val="108000"/>
              </a:lnSpc>
              <a:buClr>
                <a:srgbClr val="0F7C7E"/>
              </a:buClr>
              <a:buFont typeface="Arial"/>
              <a:buChar char="•"/>
            </a:pPr>
            <a:r>
              <a:rPr sz="2200" i="0" b="1">
                <a:solidFill>
                  <a:srgbClr val="1F2937"/>
                </a:solidFill>
                <a:latin typeface="Arial"/>
              </a:rPr>
              <a:t>Context binding:</a:t>
            </a:r>
            <a:r>
              <a:rPr sz="2200" i="0" b="0">
                <a:solidFill>
                  <a:srgbClr val="1F2937"/>
                </a:solidFill>
                <a:latin typeface="Arial"/>
              </a:rPr>
              <a:t> chainId and contract address are signed, blocking cross-contract replay.</a:t>
            </a:r>
          </a:p>
        </p:txBody>
      </p:sp>
      <p:pic>
        <p:nvPicPr>
          <p:cNvPr id="57" name="Picture 56" descr="d7_crypto_compare.png"/>
          <p:cNvPicPr>
            <a:picLocks noChangeAspect="1"/>
          </p:cNvPicPr>
          <p:nvPr/>
        </p:nvPicPr>
        <p:blipFill>
          <a:blip r:embed="rId12"/>
          <a:stretch>
            <a:fillRect/>
          </a:stretch>
        </p:blipFill>
        <p:spPr>
          <a:xfrm>
            <a:off x="11732129" y="23031082"/>
            <a:ext cx="9473184" cy="3303772"/>
          </a:xfrm>
          <a:prstGeom prst="rect">
            <a:avLst/>
          </a:prstGeom>
        </p:spPr>
      </p:pic>
      <p:sp>
        <p:nvSpPr>
          <p:cNvPr id="58" name="TextBox 57"/>
          <p:cNvSpPr txBox="1"/>
          <p:nvPr/>
        </p:nvSpPr>
        <p:spPr>
          <a:xfrm>
            <a:off x="11732129" y="26389718"/>
            <a:ext cx="9473184" cy="329184"/>
          </a:xfrm>
          <a:prstGeom prst="rect">
            <a:avLst/>
          </a:prstGeom>
          <a:noFill/>
        </p:spPr>
        <p:txBody>
          <a:bodyPr wrap="square" lIns="0" rIns="0" tIns="0" bIns="0"/>
          <a:lstStyle/>
          <a:p>
            <a:pPr algn="ctr"/>
            <a:r>
              <a:rPr sz="1700" i="1" b="0">
                <a:solidFill>
                  <a:srgbClr val="4B5563"/>
                </a:solidFill>
                <a:latin typeface="Arial"/>
              </a:rPr>
              <a:t>Figure 4 – Cryptographic methods compared</a:t>
            </a:r>
          </a:p>
        </p:txBody>
      </p:sp>
      <p:sp>
        <p:nvSpPr>
          <p:cNvPr id="59" name="TextBox 58"/>
          <p:cNvSpPr txBox="1"/>
          <p:nvPr/>
        </p:nvSpPr>
        <p:spPr>
          <a:xfrm>
            <a:off x="11732129" y="27139526"/>
            <a:ext cx="9473184" cy="640080"/>
          </a:xfrm>
          <a:prstGeom prst="rect">
            <a:avLst/>
          </a:prstGeom>
          <a:noFill/>
        </p:spPr>
        <p:txBody>
          <a:bodyPr wrap="square" lIns="0" rIns="0" tIns="0" bIns="0"/>
          <a:lstStyle/>
          <a:p>
            <a:pPr algn="ctr"/>
            <a:r>
              <a:rPr sz="3600" i="0" b="1">
                <a:solidFill>
                  <a:srgbClr val="1F3A68"/>
                </a:solidFill>
                <a:latin typeface="Arial"/>
              </a:rPr>
              <a:t>REFERENCES</a:t>
            </a:r>
          </a:p>
        </p:txBody>
      </p:sp>
      <p:sp>
        <p:nvSpPr>
          <p:cNvPr id="60" name="TextBox 59"/>
          <p:cNvSpPr txBox="1"/>
          <p:nvPr/>
        </p:nvSpPr>
        <p:spPr>
          <a:xfrm>
            <a:off x="11732129" y="27788750"/>
            <a:ext cx="9473184" cy="374650"/>
          </a:xfrm>
          <a:prstGeom prst="rect">
            <a:avLst/>
          </a:prstGeom>
          <a:noFill/>
        </p:spPr>
        <p:txBody>
          <a:bodyPr wrap="square" lIns="0" rIns="0" tIns="0" bIns="0"/>
          <a:lstStyle/>
          <a:p>
            <a:r>
              <a:rPr sz="1250" i="0" b="0">
                <a:solidFill>
                  <a:srgbClr val="4B5563"/>
                </a:solidFill>
                <a:latin typeface="Arial"/>
              </a:rPr>
              <a:t>Barker, E. (2020) Recommendation for Key Management: Part 1 – General (NIST SP 800-57 Part 1 Rev. 5). Gaithersburg: NIST.</a:t>
            </a:r>
          </a:p>
        </p:txBody>
      </p:sp>
      <p:sp>
        <p:nvSpPr>
          <p:cNvPr id="61" name="TextBox 60"/>
          <p:cNvSpPr txBox="1"/>
          <p:nvPr/>
        </p:nvSpPr>
        <p:spPr>
          <a:xfrm>
            <a:off x="11732129" y="28181688"/>
            <a:ext cx="9473184" cy="374650"/>
          </a:xfrm>
          <a:prstGeom prst="rect">
            <a:avLst/>
          </a:prstGeom>
          <a:noFill/>
        </p:spPr>
        <p:txBody>
          <a:bodyPr wrap="square" lIns="0" rIns="0" tIns="0" bIns="0"/>
          <a:lstStyle/>
          <a:p>
            <a:r>
              <a:rPr sz="1250" i="0" b="0">
                <a:solidFill>
                  <a:srgbClr val="4B5563"/>
                </a:solidFill>
                <a:latin typeface="Arial"/>
              </a:rPr>
              <a:t>Bloemen, R., Logvinov, L. and Evans, J. (2017) EIP-712: Typed structured data hashing and signing. Available at: https://eips.ethereum.org/EIPS/eip-712 (Accessed: 27 September 2026).</a:t>
            </a:r>
          </a:p>
        </p:txBody>
      </p:sp>
      <p:sp>
        <p:nvSpPr>
          <p:cNvPr id="62" name="TextBox 61"/>
          <p:cNvSpPr txBox="1"/>
          <p:nvPr/>
        </p:nvSpPr>
        <p:spPr>
          <a:xfrm>
            <a:off x="11732129" y="28574626"/>
            <a:ext cx="9473184" cy="374650"/>
          </a:xfrm>
          <a:prstGeom prst="rect">
            <a:avLst/>
          </a:prstGeom>
          <a:noFill/>
        </p:spPr>
        <p:txBody>
          <a:bodyPr wrap="square" lIns="0" rIns="0" tIns="0" bIns="0"/>
          <a:lstStyle/>
          <a:p>
            <a:r>
              <a:rPr sz="1250" i="0" b="0">
                <a:solidFill>
                  <a:srgbClr val="4B5563"/>
                </a:solidFill>
                <a:latin typeface="Arial"/>
              </a:rPr>
              <a:t>Buterin, V. et al. (2021) ERC-4337: Account abstraction using alt mempool. Available at: https://eips.ethereum.org/EIPS/eip-4337 (Accessed: 27 September 2026).</a:t>
            </a:r>
          </a:p>
        </p:txBody>
      </p:sp>
      <p:sp>
        <p:nvSpPr>
          <p:cNvPr id="63" name="TextBox 62"/>
          <p:cNvSpPr txBox="1"/>
          <p:nvPr/>
        </p:nvSpPr>
        <p:spPr>
          <a:xfrm>
            <a:off x="11732129" y="28967564"/>
            <a:ext cx="9473184" cy="374650"/>
          </a:xfrm>
          <a:prstGeom prst="rect">
            <a:avLst/>
          </a:prstGeom>
          <a:noFill/>
        </p:spPr>
        <p:txBody>
          <a:bodyPr wrap="square" lIns="0" rIns="0" tIns="0" bIns="0"/>
          <a:lstStyle/>
          <a:p>
            <a:r>
              <a:rPr sz="1250" i="0" b="0">
                <a:solidFill>
                  <a:srgbClr val="4B5563"/>
                </a:solidFill>
                <a:latin typeface="Arial"/>
              </a:rPr>
              <a:t>Buterin, V. et al. (2024) EIP-7702: Set code for EOAs. Available at: https://eips.ethereum.org/EIPS/eip-7702 (Accessed: 27 September 2026).</a:t>
            </a:r>
          </a:p>
        </p:txBody>
      </p:sp>
      <p:sp>
        <p:nvSpPr>
          <p:cNvPr id="64" name="TextBox 63"/>
          <p:cNvSpPr txBox="1"/>
          <p:nvPr/>
        </p:nvSpPr>
        <p:spPr>
          <a:xfrm>
            <a:off x="11732129" y="29360502"/>
            <a:ext cx="9473184" cy="374650"/>
          </a:xfrm>
          <a:prstGeom prst="rect">
            <a:avLst/>
          </a:prstGeom>
          <a:noFill/>
        </p:spPr>
        <p:txBody>
          <a:bodyPr wrap="square" lIns="0" rIns="0" tIns="0" bIns="0"/>
          <a:lstStyle/>
          <a:p>
            <a:r>
              <a:rPr sz="1250" i="0" b="0">
                <a:solidFill>
                  <a:srgbClr val="4B5563"/>
                </a:solidFill>
                <a:latin typeface="Arial"/>
              </a:rPr>
              <a:t>Chainlink Labs (2024) Chainlink Data Feeds. Available at: https://docs.chain.link/data-feeds (Accessed: 27 September 2026).</a:t>
            </a:r>
          </a:p>
        </p:txBody>
      </p:sp>
      <p:sp>
        <p:nvSpPr>
          <p:cNvPr id="65" name="TextBox 64"/>
          <p:cNvSpPr txBox="1"/>
          <p:nvPr/>
        </p:nvSpPr>
        <p:spPr>
          <a:xfrm>
            <a:off x="11732129" y="29753440"/>
            <a:ext cx="9473184" cy="374650"/>
          </a:xfrm>
          <a:prstGeom prst="rect">
            <a:avLst/>
          </a:prstGeom>
          <a:noFill/>
        </p:spPr>
        <p:txBody>
          <a:bodyPr wrap="square" lIns="0" rIns="0" tIns="0" bIns="0"/>
          <a:lstStyle/>
          <a:p>
            <a:r>
              <a:rPr sz="1250" i="0" b="0">
                <a:solidFill>
                  <a:srgbClr val="4B5563"/>
                </a:solidFill>
                <a:latin typeface="Arial"/>
              </a:rPr>
              <a:t>Ethereum Foundation (2024) Cancun-Deneb (Dencun) FAQ. Available at: https://ethereum.org/en/roadmap/dencun/ (Accessed: 27 September 2026).</a:t>
            </a:r>
          </a:p>
        </p:txBody>
      </p:sp>
      <p:sp>
        <p:nvSpPr>
          <p:cNvPr id="66" name="TextBox 65"/>
          <p:cNvSpPr txBox="1"/>
          <p:nvPr/>
        </p:nvSpPr>
        <p:spPr>
          <a:xfrm>
            <a:off x="11732129" y="30146378"/>
            <a:ext cx="9473184" cy="374650"/>
          </a:xfrm>
          <a:prstGeom prst="rect">
            <a:avLst/>
          </a:prstGeom>
          <a:noFill/>
        </p:spPr>
        <p:txBody>
          <a:bodyPr wrap="square" lIns="0" rIns="0" tIns="0" bIns="0"/>
          <a:lstStyle/>
          <a:p>
            <a:r>
              <a:rPr sz="1250" i="0" b="0">
                <a:solidFill>
                  <a:srgbClr val="4B5563"/>
                </a:solidFill>
                <a:latin typeface="Arial"/>
              </a:rPr>
              <a:t>European Union (2023) Regulation (EU) 2023/1114 on markets in crypto-assets (MiCA). Official Journal of the European Union, L150.</a:t>
            </a:r>
          </a:p>
        </p:txBody>
      </p:sp>
      <p:sp>
        <p:nvSpPr>
          <p:cNvPr id="67" name="TextBox 66"/>
          <p:cNvSpPr txBox="1"/>
          <p:nvPr/>
        </p:nvSpPr>
        <p:spPr>
          <a:xfrm>
            <a:off x="11732129" y="30539316"/>
            <a:ext cx="9473184" cy="187325"/>
          </a:xfrm>
          <a:prstGeom prst="rect">
            <a:avLst/>
          </a:prstGeom>
          <a:noFill/>
        </p:spPr>
        <p:txBody>
          <a:bodyPr wrap="square" lIns="0" rIns="0" tIns="0" bIns="0"/>
          <a:lstStyle/>
          <a:p>
            <a:r>
              <a:rPr sz="1250" i="0" b="0">
                <a:solidFill>
                  <a:srgbClr val="4B5563"/>
                </a:solidFill>
                <a:latin typeface="Arial"/>
              </a:rPr>
              <a:t>Insurance Europe (2019) Insurance fraud: not a victimless crime. Brussels: Insurance Europe.</a:t>
            </a:r>
          </a:p>
        </p:txBody>
      </p:sp>
      <p:sp>
        <p:nvSpPr>
          <p:cNvPr id="68" name="TextBox 67"/>
          <p:cNvSpPr txBox="1"/>
          <p:nvPr/>
        </p:nvSpPr>
        <p:spPr>
          <a:xfrm>
            <a:off x="11732129" y="30744929"/>
            <a:ext cx="9473184" cy="187325"/>
          </a:xfrm>
          <a:prstGeom prst="rect">
            <a:avLst/>
          </a:prstGeom>
          <a:noFill/>
        </p:spPr>
        <p:txBody>
          <a:bodyPr wrap="square" lIns="0" rIns="0" tIns="0" bIns="0"/>
          <a:lstStyle/>
          <a:p>
            <a:r>
              <a:rPr sz="1250" i="0" b="0">
                <a:solidFill>
                  <a:srgbClr val="4B5563"/>
                </a:solidFill>
                <a:latin typeface="Arial"/>
              </a:rPr>
              <a:t>Siegel, D. (2016) 'Understanding the DAO attack', CoinDesk, 25 June.</a:t>
            </a:r>
          </a:p>
        </p:txBody>
      </p:sp>
      <p:sp>
        <p:nvSpPr>
          <p:cNvPr id="69" name="TextBox 68"/>
          <p:cNvSpPr txBox="1"/>
          <p:nvPr/>
        </p:nvSpPr>
        <p:spPr>
          <a:xfrm>
            <a:off x="11732129" y="30950542"/>
            <a:ext cx="9473184" cy="374650"/>
          </a:xfrm>
          <a:prstGeom prst="rect">
            <a:avLst/>
          </a:prstGeom>
          <a:noFill/>
        </p:spPr>
        <p:txBody>
          <a:bodyPr wrap="square" lIns="0" rIns="0" tIns="0" bIns="0"/>
          <a:lstStyle/>
          <a:p>
            <a:r>
              <a:rPr sz="1250" i="0" b="0">
                <a:solidFill>
                  <a:srgbClr val="4B5563"/>
                </a:solidFill>
                <a:latin typeface="Arial"/>
              </a:rPr>
              <a:t>Vlasov, A. et al. (2020) EIP-2537: Precompile for BLS12-381 curve operations. Available at: https://eips.ethereum.org/EIPS/eip-2537 (Accessed: 27 September 2026).</a:t>
            </a:r>
          </a:p>
        </p:txBody>
      </p:sp>
      <p:sp>
        <p:nvSpPr>
          <p:cNvPr id="70" name="TextBox 69"/>
          <p:cNvSpPr txBox="1"/>
          <p:nvPr/>
        </p:nvSpPr>
        <p:spPr>
          <a:xfrm>
            <a:off x="11732129" y="31343480"/>
            <a:ext cx="9473184" cy="374650"/>
          </a:xfrm>
          <a:prstGeom prst="rect">
            <a:avLst/>
          </a:prstGeom>
          <a:noFill/>
        </p:spPr>
        <p:txBody>
          <a:bodyPr wrap="square" lIns="0" rIns="0" tIns="0" bIns="0"/>
          <a:lstStyle/>
          <a:p>
            <a:r>
              <a:rPr sz="1250" i="0" b="0">
                <a:solidFill>
                  <a:srgbClr val="4B5563"/>
                </a:solidFill>
                <a:latin typeface="Arial"/>
              </a:rPr>
              <a:t>Wood, G. (2014) Ethereum: a secure decentralised generalised transaction ledger (Yellow Paper). Available at: https://ethereum.github.io/yellowpaper/paper.pdf (Accessed: 27 September 2026).</a:t>
            </a:r>
          </a:p>
        </p:txBody>
      </p:sp>
      <p:sp>
        <p:nvSpPr>
          <p:cNvPr id="71" name="TextBox 70"/>
          <p:cNvSpPr txBox="1"/>
          <p:nvPr/>
        </p:nvSpPr>
        <p:spPr>
          <a:xfrm>
            <a:off x="22693826" y="5731177"/>
            <a:ext cx="9473184" cy="365760"/>
          </a:xfrm>
          <a:prstGeom prst="rect">
            <a:avLst/>
          </a:prstGeom>
          <a:noFill/>
        </p:spPr>
        <p:txBody>
          <a:bodyPr wrap="square" lIns="0" rIns="0" tIns="0" bIns="0"/>
          <a:lstStyle/>
          <a:p>
            <a:pPr algn="ctr"/>
            <a:r>
              <a:rPr sz="1900" i="0" b="1">
                <a:solidFill>
                  <a:srgbClr val="0F7C7E"/>
                </a:solidFill>
                <a:latin typeface="Arial"/>
              </a:rPr>
              <a:t>CRITERION 2 · SMART CONTRACT DESIGN</a:t>
            </a:r>
          </a:p>
        </p:txBody>
      </p:sp>
      <p:sp>
        <p:nvSpPr>
          <p:cNvPr id="72" name="TextBox 71"/>
          <p:cNvSpPr txBox="1"/>
          <p:nvPr/>
        </p:nvSpPr>
        <p:spPr>
          <a:xfrm>
            <a:off x="22693826" y="6115225"/>
            <a:ext cx="9473184" cy="640080"/>
          </a:xfrm>
          <a:prstGeom prst="rect">
            <a:avLst/>
          </a:prstGeom>
          <a:noFill/>
        </p:spPr>
        <p:txBody>
          <a:bodyPr wrap="square" lIns="0" rIns="0" tIns="0" bIns="0"/>
          <a:lstStyle/>
          <a:p>
            <a:pPr algn="ctr"/>
            <a:r>
              <a:rPr sz="3600" i="0" b="1">
                <a:solidFill>
                  <a:srgbClr val="1F3A68"/>
                </a:solidFill>
                <a:latin typeface="Arial"/>
              </a:rPr>
              <a:t>HOW ECDSA SECURES A CLAIM</a:t>
            </a:r>
          </a:p>
        </p:txBody>
      </p:sp>
      <p:pic>
        <p:nvPicPr>
          <p:cNvPr id="73" name="Picture 72" descr="d3_crypto.png"/>
          <p:cNvPicPr>
            <a:picLocks noChangeAspect="1"/>
          </p:cNvPicPr>
          <p:nvPr/>
        </p:nvPicPr>
        <p:blipFill>
          <a:blip r:embed="rId13"/>
          <a:stretch>
            <a:fillRect/>
          </a:stretch>
        </p:blipFill>
        <p:spPr>
          <a:xfrm>
            <a:off x="22693826" y="6865033"/>
            <a:ext cx="9473184" cy="3700462"/>
          </a:xfrm>
          <a:prstGeom prst="rect">
            <a:avLst/>
          </a:prstGeom>
        </p:spPr>
      </p:pic>
      <p:sp>
        <p:nvSpPr>
          <p:cNvPr id="74" name="TextBox 73"/>
          <p:cNvSpPr txBox="1"/>
          <p:nvPr/>
        </p:nvSpPr>
        <p:spPr>
          <a:xfrm>
            <a:off x="22693826" y="10620359"/>
            <a:ext cx="9473184" cy="329184"/>
          </a:xfrm>
          <a:prstGeom prst="rect">
            <a:avLst/>
          </a:prstGeom>
          <a:noFill/>
        </p:spPr>
        <p:txBody>
          <a:bodyPr wrap="square" lIns="0" rIns="0" tIns="0" bIns="0"/>
          <a:lstStyle/>
          <a:p>
            <a:pPr algn="ctr"/>
            <a:r>
              <a:rPr sz="1700" i="1" b="0">
                <a:solidFill>
                  <a:srgbClr val="4B5563"/>
                </a:solidFill>
                <a:latin typeface="Arial"/>
              </a:rPr>
              <a:t>Figure 5 – Off-chain signing, on-chain verification</a:t>
            </a:r>
          </a:p>
        </p:txBody>
      </p:sp>
      <p:graphicFrame>
        <p:nvGraphicFramePr>
          <p:cNvPr id="75" name="Table 74"/>
          <p:cNvGraphicFramePr>
            <a:graphicFrameLocks noGrp="1"/>
          </p:cNvGraphicFramePr>
          <p:nvPr/>
        </p:nvGraphicFramePr>
        <p:xfrm>
          <a:off x="22693826" y="11095847"/>
          <a:ext cx="9473184" cy="2103120"/>
        </p:xfrm>
        <a:graphic>
          <a:graphicData uri="http://schemas.openxmlformats.org/drawingml/2006/table">
            <a:tbl>
              <a:tblPr firstRow="1" bandRow="1">
                <a:tableStyleId>{5C22544A-7EE6-4342-B048-85BDC9FD1C3A}</a:tableStyleId>
              </a:tblPr>
              <a:tblGrid>
                <a:gridCol w="2651760"/>
                <a:gridCol w="6821424"/>
              </a:tblGrid>
              <a:tr h="420624">
                <a:tc>
                  <a:txBody>
                    <a:bodyPr/>
                    <a:lstStyle/>
                    <a:p>
                      <a:r>
                        <a:rPr sz="2000" i="0" b="1">
                          <a:solidFill>
                            <a:srgbClr val="FFFFFF"/>
                          </a:solidFill>
                          <a:latin typeface="Arial"/>
                        </a:rPr>
                        <a:t>Authentication</a:t>
                      </a:r>
                    </a:p>
                  </a:txBody>
                  <a:tcPr anchor="ctr" marL="109728" marT="27432" marB="27432">
                    <a:solidFill>
                      <a:srgbClr val="0F7C7E"/>
                    </a:solidFill>
                  </a:tcPr>
                </a:tc>
                <a:tc>
                  <a:txBody>
                    <a:bodyPr/>
                    <a:lstStyle/>
                    <a:p>
                      <a:r>
                        <a:rPr sz="2000" i="0" b="0">
                          <a:solidFill>
                            <a:srgbClr val="1F2937"/>
                          </a:solidFill>
                          <a:latin typeface="Arial"/>
                        </a:rPr>
                        <a:t>only the assessor's key can approve</a:t>
                      </a:r>
                    </a:p>
                  </a:txBody>
                  <a:tcPr anchor="ctr" marL="109728" marT="27432" marB="27432">
                    <a:solidFill>
                      <a:srgbClr val="E6F4F4"/>
                    </a:solidFill>
                  </a:tcPr>
                </a:tc>
              </a:tr>
              <a:tr h="420624">
                <a:tc>
                  <a:txBody>
                    <a:bodyPr/>
                    <a:lstStyle/>
                    <a:p>
                      <a:r>
                        <a:rPr sz="2000" i="0" b="1">
                          <a:solidFill>
                            <a:srgbClr val="FFFFFF"/>
                          </a:solidFill>
                          <a:latin typeface="Arial"/>
                        </a:rPr>
                        <a:t>Integrity</a:t>
                      </a:r>
                    </a:p>
                  </a:txBody>
                  <a:tcPr anchor="ctr" marL="109728" marT="27432" marB="27432">
                    <a:solidFill>
                      <a:srgbClr val="0F7C7E"/>
                    </a:solidFill>
                  </a:tcPr>
                </a:tc>
                <a:tc>
                  <a:txBody>
                    <a:bodyPr/>
                    <a:lstStyle/>
                    <a:p>
                      <a:r>
                        <a:rPr sz="2000" i="0" b="0">
                          <a:solidFill>
                            <a:srgbClr val="1F2937"/>
                          </a:solidFill>
                          <a:latin typeface="Arial"/>
                        </a:rPr>
                        <a:t>Keccak-256 hash; any edit changes it</a:t>
                      </a:r>
                    </a:p>
                  </a:txBody>
                  <a:tcPr anchor="ctr" marL="109728" marT="27432" marB="27432">
                    <a:solidFill>
                      <a:srgbClr val="FFFFFF"/>
                    </a:solidFill>
                  </a:tcPr>
                </a:tc>
              </a:tr>
              <a:tr h="420624">
                <a:tc>
                  <a:txBody>
                    <a:bodyPr/>
                    <a:lstStyle/>
                    <a:p>
                      <a:r>
                        <a:rPr sz="2000" i="0" b="1">
                          <a:solidFill>
                            <a:srgbClr val="FFFFFF"/>
                          </a:solidFill>
                          <a:latin typeface="Arial"/>
                        </a:rPr>
                        <a:t>Non-repudiation</a:t>
                      </a:r>
                    </a:p>
                  </a:txBody>
                  <a:tcPr anchor="ctr" marL="109728" marT="27432" marB="27432">
                    <a:solidFill>
                      <a:srgbClr val="0F7C7E"/>
                    </a:solidFill>
                  </a:tcPr>
                </a:tc>
                <a:tc>
                  <a:txBody>
                    <a:bodyPr/>
                    <a:lstStyle/>
                    <a:p>
                      <a:r>
                        <a:rPr sz="2000" i="0" b="0">
                          <a:solidFill>
                            <a:srgbClr val="1F2937"/>
                          </a:solidFill>
                          <a:latin typeface="Arial"/>
                        </a:rPr>
                        <a:t>signed decision is permanent proof</a:t>
                      </a:r>
                    </a:p>
                  </a:txBody>
                  <a:tcPr anchor="ctr" marL="109728" marT="27432" marB="27432">
                    <a:solidFill>
                      <a:srgbClr val="E6F4F4"/>
                    </a:solidFill>
                  </a:tcPr>
                </a:tc>
              </a:tr>
              <a:tr h="420624">
                <a:tc>
                  <a:txBody>
                    <a:bodyPr/>
                    <a:lstStyle/>
                    <a:p>
                      <a:r>
                        <a:rPr sz="2000" i="0" b="1">
                          <a:solidFill>
                            <a:srgbClr val="FFFFFF"/>
                          </a:solidFill>
                          <a:latin typeface="Arial"/>
                        </a:rPr>
                        <a:t>Confidentiality</a:t>
                      </a:r>
                    </a:p>
                  </a:txBody>
                  <a:tcPr anchor="ctr" marL="109728" marT="27432" marB="27432">
                    <a:solidFill>
                      <a:srgbClr val="0F7C7E"/>
                    </a:solidFill>
                  </a:tcPr>
                </a:tc>
                <a:tc>
                  <a:txBody>
                    <a:bodyPr/>
                    <a:lstStyle/>
                    <a:p>
                      <a:r>
                        <a:rPr sz="2000" i="0" b="0">
                          <a:solidFill>
                            <a:srgbClr val="1F2937"/>
                          </a:solidFill>
                          <a:latin typeface="Arial"/>
                        </a:rPr>
                        <a:t>evidence hashed on-chain; amounts public (AES proposed)</a:t>
                      </a:r>
                    </a:p>
                  </a:txBody>
                  <a:tcPr anchor="ctr" marL="109728" marT="27432" marB="27432">
                    <a:solidFill>
                      <a:srgbClr val="FFFFFF"/>
                    </a:solidFill>
                  </a:tcPr>
                </a:tc>
              </a:tr>
              <a:tr h="420624">
                <a:tc>
                  <a:txBody>
                    <a:bodyPr/>
                    <a:lstStyle/>
                    <a:p>
                      <a:r>
                        <a:rPr sz="2000" i="0" b="1">
                          <a:solidFill>
                            <a:srgbClr val="FFFFFF"/>
                          </a:solidFill>
                          <a:latin typeface="Arial"/>
                        </a:rPr>
                        <a:t>Replay safety</a:t>
                      </a:r>
                    </a:p>
                  </a:txBody>
                  <a:tcPr anchor="ctr" marL="109728" marT="27432" marB="27432">
                    <a:solidFill>
                      <a:srgbClr val="0F7C7E"/>
                    </a:solidFill>
                  </a:tcPr>
                </a:tc>
                <a:tc>
                  <a:txBody>
                    <a:bodyPr/>
                    <a:lstStyle/>
                    <a:p>
                      <a:r>
                        <a:rPr sz="2000" i="0" b="0">
                          <a:solidFill>
                            <a:srgbClr val="1F2937"/>
                          </a:solidFill>
                          <a:latin typeface="Arial"/>
                        </a:rPr>
                        <a:t>deadline + one-time use + low-s (EIP-2)</a:t>
                      </a:r>
                    </a:p>
                  </a:txBody>
                  <a:tcPr anchor="ctr" marL="109728" marT="27432" marB="27432">
                    <a:solidFill>
                      <a:srgbClr val="E6F4F4"/>
                    </a:solidFill>
                  </a:tcPr>
                </a:tc>
              </a:tr>
            </a:tbl>
          </a:graphicData>
        </a:graphic>
      </p:graphicFrame>
      <p:sp>
        <p:nvSpPr>
          <p:cNvPr id="76" name="TextBox 75"/>
          <p:cNvSpPr txBox="1"/>
          <p:nvPr/>
        </p:nvSpPr>
        <p:spPr>
          <a:xfrm>
            <a:off x="22693826" y="13583015"/>
            <a:ext cx="9473184" cy="640080"/>
          </a:xfrm>
          <a:prstGeom prst="rect">
            <a:avLst/>
          </a:prstGeom>
          <a:noFill/>
        </p:spPr>
        <p:txBody>
          <a:bodyPr wrap="square" lIns="0" rIns="0" tIns="0" bIns="0"/>
          <a:lstStyle/>
          <a:p>
            <a:pPr algn="ctr"/>
            <a:r>
              <a:rPr sz="3600" i="0" b="1">
                <a:solidFill>
                  <a:srgbClr val="1F3A68"/>
                </a:solidFill>
                <a:latin typeface="Arial"/>
              </a:rPr>
              <a:t>SMART CONTRACT DESIGN</a:t>
            </a:r>
          </a:p>
        </p:txBody>
      </p:sp>
      <p:sp>
        <p:nvSpPr>
          <p:cNvPr id="77" name="TextBox 76"/>
          <p:cNvSpPr txBox="1"/>
          <p:nvPr/>
        </p:nvSpPr>
        <p:spPr>
          <a:xfrm>
            <a:off x="22693826" y="14332823"/>
            <a:ext cx="9473184" cy="1318764"/>
          </a:xfrm>
          <a:prstGeom prst="rect">
            <a:avLst/>
          </a:prstGeom>
          <a:noFill/>
        </p:spPr>
        <p:txBody>
          <a:bodyPr wrap="square" lIns="0" rIns="0" tIns="0" bIns="0"/>
          <a:lstStyle/>
          <a:p>
            <a:pPr>
              <a:lnSpc>
                <a:spcPct val="108000"/>
              </a:lnSpc>
            </a:pPr>
            <a:r>
              <a:rPr sz="2200" i="0" b="0">
                <a:solidFill>
                  <a:srgbClr val="1F2937"/>
                </a:solidFill>
                <a:latin typeface="Arial"/>
              </a:rPr>
              <a:t>ChainClaim.sol holds premiums and the claims pool in escrow, enforces policy rules (0.01 ETH premium, 5 ETH cover limit) and pays only after a valid signed assessment. It uses checks-effects-interactions, a re-entrancy guard, a claimant-callable payout and a circuit breaker.</a:t>
            </a:r>
          </a:p>
        </p:txBody>
      </p:sp>
      <p:pic>
        <p:nvPicPr>
          <p:cNvPr id="78" name="Picture 77" descr="d4_sequence.png"/>
          <p:cNvPicPr>
            <a:picLocks noChangeAspect="1"/>
          </p:cNvPicPr>
          <p:nvPr/>
        </p:nvPicPr>
        <p:blipFill>
          <a:blip r:embed="rId14"/>
          <a:stretch>
            <a:fillRect/>
          </a:stretch>
        </p:blipFill>
        <p:spPr>
          <a:xfrm>
            <a:off x="22693826" y="15797891"/>
            <a:ext cx="9473184" cy="6572021"/>
          </a:xfrm>
          <a:prstGeom prst="rect">
            <a:avLst/>
          </a:prstGeom>
        </p:spPr>
      </p:pic>
      <p:sp>
        <p:nvSpPr>
          <p:cNvPr id="79" name="TextBox 78"/>
          <p:cNvSpPr txBox="1"/>
          <p:nvPr/>
        </p:nvSpPr>
        <p:spPr>
          <a:xfrm>
            <a:off x="22693826" y="22424776"/>
            <a:ext cx="9473184" cy="329184"/>
          </a:xfrm>
          <a:prstGeom prst="rect">
            <a:avLst/>
          </a:prstGeom>
          <a:noFill/>
        </p:spPr>
        <p:txBody>
          <a:bodyPr wrap="square" lIns="0" rIns="0" tIns="0" bIns="0"/>
          <a:lstStyle/>
          <a:p>
            <a:pPr algn="ctr"/>
            <a:r>
              <a:rPr sz="1700" i="1" b="0">
                <a:solidFill>
                  <a:srgbClr val="4B5563"/>
                </a:solidFill>
                <a:latin typeface="Arial"/>
              </a:rPr>
              <a:t>Figure 6 – UML sequence diagram</a:t>
            </a:r>
          </a:p>
        </p:txBody>
      </p:sp>
      <p:pic>
        <p:nvPicPr>
          <p:cNvPr id="80" name="Picture 79" descr="d5_states.png"/>
          <p:cNvPicPr>
            <a:picLocks noChangeAspect="1"/>
          </p:cNvPicPr>
          <p:nvPr/>
        </p:nvPicPr>
        <p:blipFill>
          <a:blip r:embed="rId15"/>
          <a:stretch>
            <a:fillRect/>
          </a:stretch>
        </p:blipFill>
        <p:spPr>
          <a:xfrm>
            <a:off x="22693826" y="22900264"/>
            <a:ext cx="9473184" cy="2190673"/>
          </a:xfrm>
          <a:prstGeom prst="rect">
            <a:avLst/>
          </a:prstGeom>
        </p:spPr>
      </p:pic>
      <p:sp>
        <p:nvSpPr>
          <p:cNvPr id="81" name="TextBox 80"/>
          <p:cNvSpPr txBox="1"/>
          <p:nvPr/>
        </p:nvSpPr>
        <p:spPr>
          <a:xfrm>
            <a:off x="22693826" y="25145801"/>
            <a:ext cx="9473184" cy="329184"/>
          </a:xfrm>
          <a:prstGeom prst="rect">
            <a:avLst/>
          </a:prstGeom>
          <a:noFill/>
        </p:spPr>
        <p:txBody>
          <a:bodyPr wrap="square" lIns="0" rIns="0" tIns="0" bIns="0"/>
          <a:lstStyle/>
          <a:p>
            <a:pPr algn="ctr"/>
            <a:r>
              <a:rPr sz="1700" i="1" b="0">
                <a:solidFill>
                  <a:srgbClr val="4B5563"/>
                </a:solidFill>
                <a:latin typeface="Arial"/>
              </a:rPr>
              <a:t>Figure 7 – Claim state machine and invariants</a:t>
            </a:r>
          </a:p>
        </p:txBody>
      </p:sp>
      <p:pic>
        <p:nvPicPr>
          <p:cNvPr id="82" name="Picture 81" descr="ChainClaim_code.png"/>
          <p:cNvPicPr>
            <a:picLocks noChangeAspect="1"/>
          </p:cNvPicPr>
          <p:nvPr/>
        </p:nvPicPr>
        <p:blipFill>
          <a:blip r:embed="rId16"/>
          <a:stretch>
            <a:fillRect/>
          </a:stretch>
        </p:blipFill>
        <p:spPr>
          <a:xfrm>
            <a:off x="22693826" y="25621289"/>
            <a:ext cx="9473184" cy="5942844"/>
          </a:xfrm>
          <a:prstGeom prst="rect">
            <a:avLst/>
          </a:prstGeom>
        </p:spPr>
      </p:pic>
      <p:sp>
        <p:nvSpPr>
          <p:cNvPr id="83" name="TextBox 82"/>
          <p:cNvSpPr txBox="1"/>
          <p:nvPr/>
        </p:nvSpPr>
        <p:spPr>
          <a:xfrm>
            <a:off x="22693826" y="31618997"/>
            <a:ext cx="9473184" cy="329184"/>
          </a:xfrm>
          <a:prstGeom prst="rect">
            <a:avLst/>
          </a:prstGeom>
          <a:noFill/>
        </p:spPr>
        <p:txBody>
          <a:bodyPr wrap="square" lIns="0" rIns="0" tIns="0" bIns="0"/>
          <a:lstStyle/>
          <a:p>
            <a:pPr algn="ctr"/>
            <a:r>
              <a:rPr sz="1700" i="1" b="0">
                <a:solidFill>
                  <a:srgbClr val="4B5563"/>
                </a:solidFill>
                <a:latin typeface="Arial"/>
              </a:rPr>
              <a:t>Figure 8 – Key functions: signed assessment and pull payment</a:t>
            </a:r>
          </a:p>
        </p:txBody>
      </p:sp>
      <p:sp>
        <p:nvSpPr>
          <p:cNvPr id="84" name="TextBox 83"/>
          <p:cNvSpPr txBox="1"/>
          <p:nvPr/>
        </p:nvSpPr>
        <p:spPr>
          <a:xfrm>
            <a:off x="33655522" y="5731177"/>
            <a:ext cx="9473184" cy="365760"/>
          </a:xfrm>
          <a:prstGeom prst="rect">
            <a:avLst/>
          </a:prstGeom>
          <a:noFill/>
        </p:spPr>
        <p:txBody>
          <a:bodyPr wrap="square" lIns="0" rIns="0" tIns="0" bIns="0"/>
          <a:lstStyle/>
          <a:p>
            <a:pPr algn="ctr"/>
            <a:r>
              <a:rPr sz="1900" i="0" b="1">
                <a:solidFill>
                  <a:srgbClr val="0F7C7E"/>
                </a:solidFill>
                <a:latin typeface="Arial"/>
              </a:rPr>
              <a:t>CRITERION 2 · DEPLOYMENT, EXECUTION &amp; TESTING</a:t>
            </a:r>
          </a:p>
        </p:txBody>
      </p:sp>
      <p:sp>
        <p:nvSpPr>
          <p:cNvPr id="85" name="TextBox 84"/>
          <p:cNvSpPr txBox="1"/>
          <p:nvPr/>
        </p:nvSpPr>
        <p:spPr>
          <a:xfrm>
            <a:off x="33655522" y="6115225"/>
            <a:ext cx="9473184" cy="640080"/>
          </a:xfrm>
          <a:prstGeom prst="rect">
            <a:avLst/>
          </a:prstGeom>
          <a:noFill/>
        </p:spPr>
        <p:txBody>
          <a:bodyPr wrap="square" lIns="0" rIns="0" tIns="0" bIns="0"/>
          <a:lstStyle/>
          <a:p>
            <a:pPr algn="ctr"/>
            <a:r>
              <a:rPr sz="3600" i="0" b="1">
                <a:solidFill>
                  <a:srgbClr val="1F3A68"/>
                </a:solidFill>
                <a:latin typeface="Arial"/>
              </a:rPr>
              <a:t>IMPLEMENTATION &amp; TESTING</a:t>
            </a:r>
          </a:p>
        </p:txBody>
      </p:sp>
      <p:sp>
        <p:nvSpPr>
          <p:cNvPr id="86" name="TextBox 85"/>
          <p:cNvSpPr txBox="1"/>
          <p:nvPr/>
        </p:nvSpPr>
        <p:spPr>
          <a:xfrm>
            <a:off x="33655522" y="6865033"/>
            <a:ext cx="9473184" cy="989073"/>
          </a:xfrm>
          <a:prstGeom prst="rect">
            <a:avLst/>
          </a:prstGeom>
          <a:noFill/>
        </p:spPr>
        <p:txBody>
          <a:bodyPr wrap="square" lIns="0" rIns="0" tIns="0" bIns="0"/>
          <a:lstStyle/>
          <a:p>
            <a:pPr>
              <a:lnSpc>
                <a:spcPct val="108000"/>
              </a:lnSpc>
            </a:pPr>
            <a:r>
              <a:rPr sz="2200" i="0" b="1">
                <a:solidFill>
                  <a:srgbClr val="1F2937"/>
                </a:solidFill>
                <a:latin typeface="Arial"/>
              </a:rPr>
              <a:t>Stack:</a:t>
            </a:r>
            <a:r>
              <a:rPr sz="2200" i="0" b="0">
                <a:solidFill>
                  <a:srgbClr val="1F2937"/>
                </a:solidFill>
                <a:latin typeface="Arial"/>
              </a:rPr>
              <a:t> Solidity 0.8.24 in Remix IDE, Ganache v7 (chain ID 1337), Python web3.py scripts (deploy.py, interact.py) and a Bash runner (run_all.sh).</a:t>
            </a:r>
          </a:p>
        </p:txBody>
      </p:sp>
      <p:sp>
        <p:nvSpPr>
          <p:cNvPr id="87" name="Rounded Rectangle 86"/>
          <p:cNvSpPr/>
          <p:nvPr/>
        </p:nvSpPr>
        <p:spPr>
          <a:xfrm>
            <a:off x="33655522" y="8110138"/>
            <a:ext cx="2244852" cy="1325880"/>
          </a:xfrm>
          <a:prstGeom prst="roundRect">
            <a:avLst>
              <a:gd name="adj" fmla="val 12000"/>
            </a:avLst>
          </a:prstGeom>
          <a:solidFill>
            <a:srgbClr val="1F3A68"/>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FFFFFF"/>
                </a:solidFill>
                <a:latin typeface="Arial"/>
              </a:rPr>
              <a:t>13 / 13</a:t>
            </a:r>
          </a:p>
          <a:p>
            <a:pPr algn="ctr"/>
            <a:r>
              <a:rPr sz="1500" i="0" b="0">
                <a:solidFill>
                  <a:srgbClr val="DBE4F3"/>
                </a:solidFill>
                <a:latin typeface="Arial"/>
              </a:rPr>
              <a:t>security tests passed</a:t>
            </a:r>
          </a:p>
        </p:txBody>
      </p:sp>
      <p:sp>
        <p:nvSpPr>
          <p:cNvPr id="88" name="Rounded Rectangle 87"/>
          <p:cNvSpPr/>
          <p:nvPr/>
        </p:nvSpPr>
        <p:spPr>
          <a:xfrm>
            <a:off x="36064966" y="8110138"/>
            <a:ext cx="2244852" cy="1325880"/>
          </a:xfrm>
          <a:prstGeom prst="roundRect">
            <a:avLst>
              <a:gd name="adj" fmla="val 12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1F3A68"/>
                </a:solidFill>
                <a:latin typeface="Arial"/>
              </a:rPr>
              <a:t>1</a:t>
            </a:r>
          </a:p>
          <a:p>
            <a:pPr algn="ctr"/>
            <a:r>
              <a:rPr sz="1500" i="0" b="0">
                <a:solidFill>
                  <a:srgbClr val="4B5563"/>
                </a:solidFill>
                <a:latin typeface="Arial"/>
              </a:rPr>
              <a:t>shell command: deploy + test</a:t>
            </a:r>
          </a:p>
        </p:txBody>
      </p:sp>
      <p:sp>
        <p:nvSpPr>
          <p:cNvPr id="89" name="Rounded Rectangle 88"/>
          <p:cNvSpPr/>
          <p:nvPr/>
        </p:nvSpPr>
        <p:spPr>
          <a:xfrm>
            <a:off x="38474410" y="8110138"/>
            <a:ext cx="2244852" cy="1325880"/>
          </a:xfrm>
          <a:prstGeom prst="roundRect">
            <a:avLst>
              <a:gd name="adj" fmla="val 12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1F3A68"/>
                </a:solidFill>
                <a:latin typeface="Arial"/>
              </a:rPr>
              <a:t>47,388</a:t>
            </a:r>
          </a:p>
          <a:p>
            <a:pPr algn="ctr"/>
            <a:r>
              <a:rPr sz="1500" i="0" b="0">
                <a:solidFill>
                  <a:srgbClr val="4B5563"/>
                </a:solidFill>
                <a:latin typeface="Arial"/>
              </a:rPr>
              <a:t>gas to pay a claim</a:t>
            </a:r>
          </a:p>
        </p:txBody>
      </p:sp>
      <p:sp>
        <p:nvSpPr>
          <p:cNvPr id="90" name="Rounded Rectangle 89"/>
          <p:cNvSpPr/>
          <p:nvPr/>
        </p:nvSpPr>
        <p:spPr>
          <a:xfrm>
            <a:off x="40883854" y="8110138"/>
            <a:ext cx="2244852" cy="1325880"/>
          </a:xfrm>
          <a:prstGeom prst="roundRect">
            <a:avLst>
              <a:gd name="adj" fmla="val 12000"/>
            </a:avLst>
          </a:prstGeom>
          <a:solidFill>
            <a:srgbClr val="FFFFFF"/>
          </a:solidFill>
          <a:ln w="25400">
            <a:solidFill>
              <a:srgbClr val="1F3A6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3400" i="0" b="1">
                <a:solidFill>
                  <a:srgbClr val="1F3A68"/>
                </a:solidFill>
                <a:latin typeface="Arial"/>
              </a:rPr>
              <a:t>0 gas</a:t>
            </a:r>
          </a:p>
          <a:p>
            <a:pPr algn="ctr"/>
            <a:r>
              <a:rPr sz="1500" i="0" b="0">
                <a:solidFill>
                  <a:srgbClr val="4B5563"/>
                </a:solidFill>
                <a:latin typeface="Arial"/>
              </a:rPr>
              <a:t>assessor signs off-chain</a:t>
            </a:r>
          </a:p>
        </p:txBody>
      </p:sp>
      <p:pic>
        <p:nvPicPr>
          <p:cNvPr id="91" name="Picture 90" descr="E03_deploy_remix.png"/>
          <p:cNvPicPr>
            <a:picLocks noChangeAspect="1"/>
          </p:cNvPicPr>
          <p:nvPr/>
        </p:nvPicPr>
        <p:blipFill>
          <a:blip r:embed="rId17"/>
          <a:stretch>
            <a:fillRect/>
          </a:stretch>
        </p:blipFill>
        <p:spPr>
          <a:xfrm>
            <a:off x="33660000" y="9576000"/>
            <a:ext cx="9468000" cy="4714356"/>
          </a:xfrm>
          <a:prstGeom prst="rect">
            <a:avLst/>
          </a:prstGeom>
        </p:spPr>
      </p:pic>
      <p:sp>
        <p:nvSpPr>
          <p:cNvPr id="92" name="TextBox 91"/>
          <p:cNvSpPr txBox="1"/>
          <p:nvPr/>
        </p:nvSpPr>
        <p:spPr>
          <a:xfrm>
            <a:off x="33660000" y="14344356"/>
            <a:ext cx="9468000" cy="324000"/>
          </a:xfrm>
          <a:prstGeom prst="rect">
            <a:avLst/>
          </a:prstGeom>
          <a:noFill/>
        </p:spPr>
        <p:txBody>
          <a:bodyPr wrap="square" lIns="0" rIns="0" tIns="0" bIns="0"/>
          <a:lstStyle/>
          <a:p>
            <a:pPr algn="ctr"/>
            <a:r>
              <a:rPr sz="1700" i="1" b="0">
                <a:solidFill>
                  <a:srgbClr val="4B5563"/>
                </a:solidFill>
                <a:latin typeface="Arial"/>
              </a:rPr>
              <a:t>Figure 9 – Remix deploy to Ganache, chain 1337 (Remix label: “Geth Testnet”)</a:t>
            </a:r>
          </a:p>
        </p:txBody>
      </p:sp>
      <p:pic>
        <p:nvPicPr>
          <p:cNvPr id="104" name="Picture E05" descr="E05_flow_policy_claim.png"/>
          <p:cNvPicPr>
            <a:picLocks noChangeAspect="1"/>
          </p:cNvPicPr>
          <p:nvPr/>
        </p:nvPicPr>
        <p:blipFill>
          <a:blip r:embed="rId23"/>
          <a:stretch>
            <a:fillRect/>
          </a:stretch>
        </p:blipFill>
        <p:spPr>
          <a:xfrm>
            <a:off x="33660000" y="14776356"/>
            <a:ext cx="4644000" cy="1776834"/>
          </a:xfrm>
          <a:prstGeom prst="rect">
            <a:avLst/>
          </a:prstGeom>
        </p:spPr>
      </p:pic>
      <p:pic>
        <p:nvPicPr>
          <p:cNvPr id="105" name="Picture E07" descr="E07_payout.png"/>
          <p:cNvPicPr>
            <a:picLocks noChangeAspect="1"/>
          </p:cNvPicPr>
          <p:nvPr/>
        </p:nvPicPr>
        <p:blipFill>
          <a:blip r:embed="rId24"/>
          <a:stretch>
            <a:fillRect/>
          </a:stretch>
        </p:blipFill>
        <p:spPr>
          <a:xfrm>
            <a:off x="38484000" y="14776356"/>
            <a:ext cx="4644000" cy="1655686"/>
          </a:xfrm>
          <a:prstGeom prst="rect">
            <a:avLst/>
          </a:prstGeom>
        </p:spPr>
      </p:pic>
      <p:pic>
        <p:nvPicPr>
          <p:cNvPr id="93" name="Picture 92" descr="E06_ecdsa_signature.png"/>
          <p:cNvPicPr>
            <a:picLocks noChangeAspect="1"/>
          </p:cNvPicPr>
          <p:nvPr/>
        </p:nvPicPr>
        <p:blipFill>
          <a:blip r:embed="rId18"/>
          <a:stretch>
            <a:fillRect/>
          </a:stretch>
        </p:blipFill>
        <p:spPr>
          <a:xfrm>
            <a:off x="33660000" y="17255191"/>
            <a:ext cx="9468000" cy="3691053"/>
          </a:xfrm>
          <a:prstGeom prst="rect">
            <a:avLst/>
          </a:prstGeom>
        </p:spPr>
      </p:pic>
      <p:sp>
        <p:nvSpPr>
          <p:cNvPr id="106" name="TextBox E0507"/>
          <p:cNvSpPr txBox="1"/>
          <p:nvPr/>
        </p:nvSpPr>
        <p:spPr>
          <a:xfrm>
            <a:off x="33660000" y="16607191"/>
            <a:ext cx="9468000" cy="540000"/>
          </a:xfrm>
          <a:prstGeom prst="rect">
            <a:avLst/>
          </a:prstGeom>
          <a:noFill/>
        </p:spPr>
        <p:txBody>
          <a:bodyPr wrap="square" lIns="0" rIns="0" tIns="0" bIns="0"/>
          <a:lstStyle/>
          <a:p>
            <a:pPr algn="ctr"/>
            <a:r>
              <a:rPr sz="1700" i="1" b="0">
                <a:solidFill>
                  <a:srgbClr val="4B5563"/>
                </a:solidFill>
                <a:latin typeface="Arial"/>
              </a:rPr>
              <a:t>Figure 10 – Transactions on Ganache: fundPool, buyPolicy, submitClaim (left) and 4 ETH payout (right)</a:t>
            </a:r>
          </a:p>
        </p:txBody>
      </p:sp>
      <p:sp>
        <p:nvSpPr>
          <p:cNvPr id="94" name="TextBox 93"/>
          <p:cNvSpPr txBox="1"/>
          <p:nvPr/>
        </p:nvSpPr>
        <p:spPr>
          <a:xfrm>
            <a:off x="33660000" y="21000244"/>
            <a:ext cx="9468000" cy="324000"/>
          </a:xfrm>
          <a:prstGeom prst="rect">
            <a:avLst/>
          </a:prstGeom>
          <a:noFill/>
        </p:spPr>
        <p:txBody>
          <a:bodyPr wrap="square" lIns="0" rIns="0" tIns="0" bIns="0"/>
          <a:lstStyle/>
          <a:p>
            <a:pPr algn="ctr"/>
            <a:r>
              <a:rPr sz="1700" i="1" b="0">
                <a:solidFill>
                  <a:srgbClr val="4B5563"/>
                </a:solidFill>
                <a:latin typeface="Arial"/>
              </a:rPr>
              <a:t>Figure 11 – EIP-712 digest, signature and recovered assessor (earlier run)</a:t>
            </a:r>
          </a:p>
        </p:txBody>
      </p:sp>
      <p:pic>
        <p:nvPicPr>
          <p:cNvPr id="95" name="Picture 94" descr="E08_security_tests.png"/>
          <p:cNvPicPr>
            <a:picLocks noChangeAspect="1"/>
          </p:cNvPicPr>
          <p:nvPr/>
        </p:nvPicPr>
        <p:blipFill>
          <a:blip r:embed="rId19"/>
          <a:stretch>
            <a:fillRect/>
          </a:stretch>
        </p:blipFill>
        <p:spPr>
          <a:xfrm>
            <a:off x="33660000" y="21432244"/>
            <a:ext cx="5508000" cy="4425393"/>
          </a:xfrm>
          <a:prstGeom prst="rect">
            <a:avLst/>
          </a:prstGeom>
        </p:spPr>
      </p:pic>
      <p:sp>
        <p:nvSpPr>
          <p:cNvPr id="96" name="TextBox 95"/>
          <p:cNvSpPr txBox="1"/>
          <p:nvPr/>
        </p:nvSpPr>
        <p:spPr>
          <a:xfrm>
            <a:off x="33660000" y="25911638"/>
            <a:ext cx="5508000" cy="324000"/>
          </a:xfrm>
          <a:prstGeom prst="rect">
            <a:avLst/>
          </a:prstGeom>
          <a:noFill/>
        </p:spPr>
        <p:txBody>
          <a:bodyPr wrap="square" lIns="0" rIns="0" tIns="0" bIns="0"/>
          <a:lstStyle/>
          <a:p>
            <a:pPr algn="ctr"/>
            <a:r>
              <a:rPr sz="1700" i="1" b="0">
                <a:solidFill>
                  <a:srgbClr val="4B5563"/>
                </a:solidFill>
                <a:latin typeface="Arial"/>
              </a:rPr>
              <a:t>Figure 12 – All 13 attacks revert with a clear reason</a:t>
            </a:r>
          </a:p>
        </p:txBody>
      </p:sp>
      <p:pic>
        <p:nvPicPr>
          <p:cNvPr id="97" name="Picture 96" descr="E10b_run_all_results.png"/>
          <p:cNvPicPr>
            <a:picLocks noChangeAspect="1"/>
          </p:cNvPicPr>
          <p:nvPr/>
        </p:nvPicPr>
        <p:blipFill>
          <a:blip r:embed="rId20"/>
          <a:stretch>
            <a:fillRect/>
          </a:stretch>
        </p:blipFill>
        <p:spPr>
          <a:xfrm>
            <a:off x="39348000" y="23052244"/>
            <a:ext cx="3780000" cy="1927800"/>
          </a:xfrm>
          <a:prstGeom prst="rect">
            <a:avLst/>
          </a:prstGeom>
        </p:spPr>
      </p:pic>
      <p:pic>
        <p:nvPicPr>
          <p:cNvPr id="103" name="Picture 103" descr="E10a_run_all_start.png"/>
          <p:cNvPicPr>
            <a:picLocks noChangeAspect="1"/>
          </p:cNvPicPr>
          <p:nvPr/>
        </p:nvPicPr>
        <p:blipFill>
          <a:blip r:embed="rId22"/>
          <a:stretch>
            <a:fillRect/>
          </a:stretch>
        </p:blipFill>
        <p:spPr>
          <a:xfrm>
            <a:off x="39348000" y="21432244"/>
            <a:ext cx="3780000" cy="1512000"/>
          </a:xfrm>
          <a:prstGeom prst="rect">
            <a:avLst/>
          </a:prstGeom>
        </p:spPr>
      </p:pic>
      <p:sp>
        <p:nvSpPr>
          <p:cNvPr id="98" name="TextBox 97"/>
          <p:cNvSpPr txBox="1"/>
          <p:nvPr/>
        </p:nvSpPr>
        <p:spPr>
          <a:xfrm>
            <a:off x="39348000" y="25034044"/>
            <a:ext cx="3780000" cy="576000"/>
          </a:xfrm>
          <a:prstGeom prst="rect">
            <a:avLst/>
          </a:prstGeom>
          <a:noFill/>
        </p:spPr>
        <p:txBody>
          <a:bodyPr wrap="square" lIns="0" rIns="0" tIns="0" bIns="0"/>
          <a:lstStyle/>
          <a:p>
            <a:pPr algn="ctr"/>
            <a:r>
              <a:rPr sz="1700" i="1" b="0">
                <a:solidFill>
                  <a:srgbClr val="4B5563"/>
                </a:solidFill>
                <a:latin typeface="Arial"/>
              </a:rPr>
              <a:t>Figure 13 – run_all.sh: one command runs everything; all checks passed</a:t>
            </a:r>
          </a:p>
        </p:txBody>
      </p:sp>
      <p:pic>
        <p:nvPicPr>
          <p:cNvPr id="99" name="Picture 98" descr="gas_report.png"/>
          <p:cNvPicPr>
            <a:picLocks noChangeAspect="1"/>
          </p:cNvPicPr>
          <p:nvPr/>
        </p:nvPicPr>
        <p:blipFill>
          <a:blip r:embed="rId21"/>
          <a:stretch>
            <a:fillRect/>
          </a:stretch>
        </p:blipFill>
        <p:spPr>
          <a:xfrm>
            <a:off x="33774073" y="26343638"/>
            <a:ext cx="9239853" cy="2402361"/>
          </a:xfrm>
          <a:prstGeom prst="rect">
            <a:avLst/>
          </a:prstGeom>
        </p:spPr>
      </p:pic>
      <p:sp>
        <p:nvSpPr>
          <p:cNvPr id="100" name="TextBox 99"/>
          <p:cNvSpPr txBox="1"/>
          <p:nvPr/>
        </p:nvSpPr>
        <p:spPr>
          <a:xfrm>
            <a:off x="33660000" y="28800000"/>
            <a:ext cx="9468000" cy="324000"/>
          </a:xfrm>
          <a:prstGeom prst="rect">
            <a:avLst/>
          </a:prstGeom>
          <a:noFill/>
        </p:spPr>
        <p:txBody>
          <a:bodyPr wrap="square" lIns="0" rIns="0" tIns="0" bIns="0"/>
          <a:lstStyle/>
          <a:p>
            <a:pPr algn="ctr"/>
            <a:r>
              <a:rPr sz="1700" i="1" b="0">
                <a:solidFill>
                  <a:srgbClr val="4B5563"/>
                </a:solidFill>
                <a:latin typeface="Arial"/>
              </a:rPr>
              <a:t>Figure 14 – Gas from transaction receipts</a:t>
            </a:r>
          </a:p>
        </p:txBody>
      </p:sp>
      <p:sp>
        <p:nvSpPr>
          <p:cNvPr id="101" name="TextBox 100"/>
          <p:cNvSpPr txBox="1"/>
          <p:nvPr/>
        </p:nvSpPr>
        <p:spPr>
          <a:xfrm>
            <a:off x="33655522" y="29336565"/>
            <a:ext cx="9473184" cy="640080"/>
          </a:xfrm>
          <a:prstGeom prst="rect">
            <a:avLst/>
          </a:prstGeom>
          <a:noFill/>
        </p:spPr>
        <p:txBody>
          <a:bodyPr wrap="square" lIns="0" rIns="0" tIns="0" bIns="0"/>
          <a:lstStyle/>
          <a:p>
            <a:pPr algn="ctr"/>
            <a:r>
              <a:rPr sz="3600" i="0" b="1">
                <a:solidFill>
                  <a:srgbClr val="1F3A68"/>
                </a:solidFill>
                <a:latin typeface="Arial"/>
              </a:rPr>
              <a:t>CONCLUSION</a:t>
            </a:r>
          </a:p>
        </p:txBody>
      </p:sp>
      <p:sp>
        <p:nvSpPr>
          <p:cNvPr id="102" name="TextBox 101"/>
          <p:cNvSpPr txBox="1"/>
          <p:nvPr/>
        </p:nvSpPr>
        <p:spPr>
          <a:xfrm>
            <a:off x="33655522" y="30086373"/>
            <a:ext cx="9473184" cy="1648455"/>
          </a:xfrm>
          <a:prstGeom prst="rect">
            <a:avLst/>
          </a:prstGeom>
          <a:noFill/>
        </p:spPr>
        <p:txBody>
          <a:bodyPr wrap="square" lIns="0" rIns="0" tIns="0" bIns="0"/>
          <a:lstStyle/>
          <a:p>
            <a:pPr>
              <a:lnSpc>
                <a:spcPct val="108000"/>
              </a:lnSpc>
            </a:pPr>
            <a:r>
              <a:rPr sz="2200" i="0" b="0">
                <a:solidFill>
                  <a:srgbClr val="1F2937"/>
                </a:solidFill>
                <a:latin typeface="Arial"/>
              </a:rPr>
              <a:t>ChainClaim shows a smart contract can be a neutral middle layer for insurance claims: premiums, approvals and payouts are enforced by code, ECDSA and Keccak-256 provide authentication and integrity, and all 13 attack tests were rejected. Next steps: multi-assessor BLS signatures, ZK proofs for medical claims and a Layer-2 pilot.</a:t>
            </a:r>
          </a:p>
        </p:txBody>
      </p:sp>
    </p:spTree>
    <p:extLst>
      <p:ext uri="{BB962C8B-B14F-4D97-AF65-F5344CB8AC3E}">
        <p14:creationId xmlns:p14="http://schemas.microsoft.com/office/powerpoint/2010/main" val="3160527046"/>
      </p:ext>
    </p:extLst>
  </p:cSld>
  <p:clrMapOvr>
    <a:masterClrMapping/>
  </p:clrMapOvr>
</p:sld>
</file>

<file path=ppt/theme/theme1.xml><?xml version="1.0" encoding="utf-8"?>
<a:theme xmlns:a="http://schemas.openxmlformats.org/drawingml/2006/main" name="36x48-Template-V2b">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lassic 3 Columns">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lassic - Wide Center">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3451</TotalTime>
  <Words>1587</Words>
  <Application>Microsoft Office PowerPoint</Application>
  <PresentationFormat>Custom</PresentationFormat>
  <Paragraphs>102</Paragraphs>
  <Slides>1</Slides>
  <Notes>1</Notes>
  <HiddenSlides>0</HiddenSlides>
  <MMClips>0</MMClips>
  <ScaleCrop>false</ScaleCrop>
  <HeadingPairs>
    <vt:vector size="8" baseType="variant">
      <vt:variant>
        <vt:lpstr>Fonts Used</vt:lpstr>
      </vt:variant>
      <vt:variant>
        <vt:i4>4</vt:i4>
      </vt:variant>
      <vt:variant>
        <vt:lpstr>Theme</vt:lpstr>
      </vt:variant>
      <vt:variant>
        <vt:i4>3</vt:i4>
      </vt:variant>
      <vt:variant>
        <vt:lpstr>Embedded OLE Servers</vt:lpstr>
      </vt:variant>
      <vt:variant>
        <vt:i4>1</vt:i4>
      </vt:variant>
      <vt:variant>
        <vt:lpstr>Slide Titles</vt:lpstr>
      </vt:variant>
      <vt:variant>
        <vt:i4>1</vt:i4>
      </vt:variant>
    </vt:vector>
  </HeadingPairs>
  <TitlesOfParts>
    <vt:vector size="9" baseType="lpstr">
      <vt:lpstr>Arial</vt:lpstr>
      <vt:lpstr>Calibri</vt:lpstr>
      <vt:lpstr>Times New Roman</vt:lpstr>
      <vt:lpstr>Trebuchet MS</vt:lpstr>
      <vt:lpstr>36x48-Template-V2b</vt:lpstr>
      <vt:lpstr>1_Classic 3 Columns</vt:lpstr>
      <vt:lpstr>Classic - Wide Center</vt:lpstr>
      <vt:lpstr>Image</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dc:description>This template is the property of PosterPresentations.com. Call us if you need help with this poster template._x000d_
1-866-649-3004           _x000d_
 (c)PosterPresentations.com</dc:description>
  <cp:lastModifiedBy>Graham Glanville</cp:lastModifiedBy>
  <cp:revision>120</cp:revision>
  <dcterms:created xsi:type="dcterms:W3CDTF">2012-02-03T19:11:35Z</dcterms:created>
  <dcterms:modified xsi:type="dcterms:W3CDTF">2021-03-31T08:26:18Z</dcterms:modified>
</cp:coreProperties>
</file>